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7373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B342"/>
                </a:solidFill>
                <a:latin typeface="Arial"/>
              </a:defRPr>
            </a:pPr>
            <a:r>
              <a:t>SMART FARM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28600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5016"/>
                </a:solidFill>
                <a:latin typeface="Arial"/>
              </a:defRPr>
            </a:pPr>
            <a:r>
              <a:t>3×9m 컨테이너 스마트팜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1089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7C23"/>
                </a:solidFill>
                <a:latin typeface="Arial"/>
              </a:defRPr>
            </a:pPr>
            <a:r>
              <a:t>설치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3891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D6D4E"/>
                </a:solidFill>
                <a:latin typeface="Arial"/>
              </a:defRPr>
            </a:pPr>
            <a:r>
              <a:t>2026년 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시설 규모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3m × 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총 27㎡ 컨테이너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베드 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4세트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9m 길이 방향, 이동식 레일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세트당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4층 × 9베드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36베드/세트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50292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총 베드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Arial"/>
              </a:defRPr>
            </a:pPr>
            <a:r>
              <a:t>144베드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23"/>
                </a:solidFill>
                <a:latin typeface="Arial"/>
              </a:defRPr>
            </a:pPr>
            <a:r>
              <a:t>포트 간격 15cm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005840"/>
            <a:ext cx="5760720" cy="13716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143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1,872 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베드당 13포트 × 144베드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514600"/>
            <a:ext cx="5760720" cy="13716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6517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예상 월 생산량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926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약 174 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747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E986"/>
                </a:solidFill>
                <a:latin typeface="Arial"/>
              </a:defRPr>
            </a:pPr>
            <a:r>
              <a:t>140~210kg (로메인, 상추 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023360"/>
            <a:ext cx="5760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1605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총 계약 금액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434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B342"/>
                </a:solidFill>
                <a:latin typeface="Arial"/>
              </a:defRPr>
            </a:pPr>
            <a:r>
              <a:t>VAT 별도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베드 구성 상세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베드 세트 규격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463040" cy="9144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길이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016"/>
                </a:solidFill>
                <a:latin typeface="Arial"/>
              </a:defRPr>
            </a:pPr>
            <a:r>
              <a:t>2.0m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28800"/>
            <a:ext cx="1463040" cy="9144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016"/>
                </a:solidFill>
                <a:latin typeface="Arial"/>
              </a:defRPr>
            </a:pPr>
            <a:r>
              <a:t>3.0m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828800"/>
            <a:ext cx="1463040" cy="9144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높이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194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016"/>
                </a:solidFill>
                <a:latin typeface="Arial"/>
              </a:defRPr>
            </a:pPr>
            <a:r>
              <a:t>1.5m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4937760" cy="13716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세트당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4층 × 9베드 = 36베드/세트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E986"/>
                </a:solidFill>
                <a:latin typeface="Arial"/>
              </a:defRPr>
            </a:pPr>
            <a:r>
              <a:t>베드당 13포트 (15cm 간격), 이동식 레일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E986"/>
                </a:solidFill>
                <a:latin typeface="Arial"/>
              </a:defRPr>
            </a:pPr>
            <a:r>
              <a:t>층별: 벽-베드-베드-복도-베드-베드-베드-기둥-베드-베드-복도-베드-베드-벽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전체 시설 구성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828800"/>
            <a:ext cx="731520" cy="73152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920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베드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9m 길이 방향 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743200"/>
            <a:ext cx="731520" cy="731520"/>
          </a:xfrm>
          <a:prstGeom prst="round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층수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4층 적층 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657600"/>
            <a:ext cx="731520" cy="7315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490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총 베드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4세트 × 36베드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754880"/>
            <a:ext cx="4937760" cy="64008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총 재배 가능 포트: 1,872개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스마트팜 시스템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926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B342"/>
                </a:solidFill>
                <a:latin typeface="Arial"/>
              </a:defRPr>
            </a:pPr>
            <a:r>
              <a:t>재배 시설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스테인리스 프레임 4세트</a:t>
            </a:r>
            <a:br/>
            <a:r>
              <a:t>• 이동식 레일 시스템</a:t>
            </a:r>
            <a:br/>
            <a:r>
              <a:t>• NFT 재배 채널 144개</a:t>
            </a:r>
            <a:br/>
            <a:r>
              <a:t>• Full Spectrum LED 72개</a:t>
            </a:r>
            <a:br/>
            <a:r>
              <a:t>• 양액 탱크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₩19,772,000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926080"/>
          </a:xfrm>
          <a:prstGeom prst="round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E986"/>
                </a:solidFill>
                <a:latin typeface="Arial"/>
              </a:defRPr>
            </a:pPr>
            <a:r>
              <a:t>환경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• 산업용 환풍기 2대</a:t>
            </a:r>
            <a:br/>
            <a:r>
              <a:t>• 인버터 냉난방기</a:t>
            </a:r>
            <a:br/>
            <a:r>
              <a:t>• 산업용 제습기</a:t>
            </a:r>
            <a:br/>
            <a:r>
              <a:t>• 순환 팬 6대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97280"/>
            <a:ext cx="36576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센서 및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23"/>
                </a:solidFill>
                <a:latin typeface="Arial"/>
              </a:defRPr>
            </a:pPr>
            <a:r>
              <a:t>• pH/EC 센서</a:t>
            </a:r>
            <a:br/>
            <a:r>
              <a:t>• 온습도/수온 센서</a:t>
            </a:r>
            <a:br/>
            <a:r>
              <a:t>• ESP32 컨트롤러 3대</a:t>
            </a:r>
            <a:br/>
            <a:r>
              <a:t>• AI 카메라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₩1,885,000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06240"/>
            <a:ext cx="56692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소프트웨어 및 클라우드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23"/>
                </a:solidFill>
                <a:latin typeface="Arial"/>
              </a:defRPr>
            </a:pPr>
            <a:r>
              <a:t>• ESP32 펌웨어 개발</a:t>
            </a:r>
            <a:br/>
            <a:r>
              <a:t>• 웹/모바일 대시보드</a:t>
            </a:r>
            <a:br/>
            <a:r>
              <a:t>• AWS 클라우드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016"/>
                </a:solidFill>
                <a:latin typeface="Arial"/>
              </a:defRPr>
            </a:pPr>
            <a:r>
              <a:t>설치 및 교육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7C23"/>
                </a:solidFill>
                <a:latin typeface="Arial"/>
              </a:defRPr>
            </a:pPr>
            <a:r>
              <a:t>• 베드/전기/배관 공사</a:t>
            </a:r>
            <a:br/>
            <a:r>
              <a:t>• 센서 설치 및 교정</a:t>
            </a:r>
            <a:br/>
            <a:r>
              <a:t>• 시운전 및 테스트</a:t>
            </a:r>
            <a:br/>
            <a:r>
              <a:t>• 운영 교육 2일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소계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172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₩5,023,000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견적 총괄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64008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재배 시설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₩19,772,000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환경 제어 장비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₩2,520,000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센서 및 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₩1,885,000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소프트웨어 및 클라우드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₩1,800,000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₩4,223,000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5016"/>
                </a:solidFill>
                <a:latin typeface="Arial"/>
              </a:defRPr>
            </a:pPr>
            <a:r>
              <a:t>기술 지원 및 교육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7C23"/>
                </a:solidFill>
                <a:latin typeface="Arial"/>
              </a:defRPr>
            </a:pPr>
            <a:r>
              <a:t>₩800,000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016"/>
                </a:solidFill>
                <a:latin typeface="Arial"/>
              </a:defRPr>
            </a:pPr>
            <a:r>
              <a:t>순 공사비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D5016"/>
                </a:solidFill>
                <a:latin typeface="Arial"/>
              </a:defRPr>
            </a:pPr>
            <a:r>
              <a:t>₩31,000,000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특별 할인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D6D4E"/>
                </a:solidFill>
                <a:latin typeface="Arial"/>
              </a:defRPr>
            </a:pPr>
            <a:r>
              <a:t>-₩1,000,000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097280"/>
            <a:ext cx="4663440" cy="256032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최종 계약금액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8288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₩30,000,000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743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E986"/>
                </a:solidFill>
                <a:latin typeface="Arial"/>
              </a:defRPr>
            </a:pPr>
            <a:r>
              <a:t>VAT 별도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840480"/>
            <a:ext cx="46634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016"/>
                </a:solidFill>
                <a:latin typeface="Arial"/>
              </a:defRPr>
            </a:pPr>
            <a:r>
              <a:t>VAT 포함 총액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4805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7C23"/>
                </a:solidFill>
                <a:latin typeface="Arial"/>
              </a:defRPr>
            </a:pPr>
            <a:r>
              <a:t>₩33,000,000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20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4E"/>
                </a:solidFill>
                <a:latin typeface="Arial"/>
              </a:defRPr>
            </a:pPr>
            <a:r>
              <a:t>세금계산서 발행 시 청구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대금 지급 조건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41148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4630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501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계약금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017520" cy="548640"/>
          </a:xfrm>
          <a:prstGeom prst="roundRect">
            <a:avLst/>
          </a:prstGeom>
          <a:solidFill>
            <a:srgbClr val="567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계약 체결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566160" cy="4114800"/>
          </a:xfrm>
          <a:prstGeom prst="round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14630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501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중도금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₩12,000,000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206240"/>
            <a:ext cx="3017520" cy="548640"/>
          </a:xfrm>
          <a:prstGeom prst="roundRect">
            <a:avLst/>
          </a:prstGeom>
          <a:solidFill>
            <a:srgbClr val="335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자재 입고 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3566160" cy="41148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14630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600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501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잔금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₩9,000,000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206240"/>
            <a:ext cx="3017520" cy="548640"/>
          </a:xfrm>
          <a:prstGeom prst="roundRect">
            <a:avLst/>
          </a:prstGeom>
          <a:solidFill>
            <a:srgbClr val="1F3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3159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설치 완료 및 시운전 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5016"/>
                </a:solidFill>
                <a:latin typeface="Arial"/>
              </a:defRPr>
            </a:pPr>
            <a:r>
              <a:t>참고사항: VAT(10%)는 세금계산서 발행 시 별도 청구됩니다.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납품 및 설치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560320" cy="128016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계약 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B342"/>
                </a:solidFill>
                <a:latin typeface="Arial"/>
              </a:defRPr>
            </a:pPr>
            <a:r>
              <a:t>D-day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설계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자재 발주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4주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18872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자재 입고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B342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7432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설치 공사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B342"/>
                </a:solidFill>
                <a:latin typeface="Arial"/>
              </a:defRPr>
            </a:pPr>
            <a:r>
              <a:t>2주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7432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5016"/>
                </a:solidFill>
                <a:latin typeface="Arial"/>
              </a:defRPr>
            </a:pPr>
            <a:r>
              <a:t>시운전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1주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2743200"/>
            <a:ext cx="2560320" cy="12801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교육/인수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389120"/>
            <a:ext cx="11430000" cy="20116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총 소요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약 8~10주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8E986"/>
                </a:solidFill>
                <a:latin typeface="Arial"/>
              </a:defRPr>
            </a:pPr>
            <a:r>
              <a:t>중도금 청구: 자재 입고 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8E986"/>
                </a:solidFill>
                <a:latin typeface="Arial"/>
              </a:defRPr>
            </a:pPr>
            <a:r>
              <a:t>잔금 청구: 설치 완료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예상 투자 수익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기본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총 포트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1,872포트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2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월 생산량 (평균)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13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174 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판매 단가 (직거래)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43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₩7,000/kg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82696"/>
            <a:ext cx="5303520" cy="457200"/>
          </a:xfrm>
          <a:prstGeom prst="roundRect">
            <a:avLst/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74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D6D4E"/>
                </a:solidFill>
                <a:latin typeface="Arial"/>
              </a:defRPr>
            </a:pPr>
            <a:r>
              <a:t>월 운영비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74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D5016"/>
                </a:solidFill>
                <a:latin typeface="Arial"/>
              </a:defRPr>
            </a:pPr>
            <a:r>
              <a:t>₩630,800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016"/>
                </a:solidFill>
                <a:latin typeface="Arial"/>
              </a:defRPr>
            </a:pPr>
            <a:r>
              <a:t>수익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월간 매출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7C23"/>
                </a:solidFill>
                <a:latin typeface="Arial"/>
              </a:defRPr>
            </a:pPr>
            <a:r>
              <a:t>₩1,218,000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976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4E"/>
                </a:solidFill>
                <a:latin typeface="Arial"/>
              </a:defRPr>
            </a:pPr>
            <a:r>
              <a:t>월간 운영비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32F2F"/>
                </a:solidFill>
                <a:latin typeface="Arial"/>
              </a:defRPr>
            </a:pPr>
            <a:r>
              <a:t>-₩630,800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5303520" cy="91440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월 순이익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₩587,200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097280"/>
            <a:ext cx="5486400" cy="2926080"/>
          </a:xfrm>
          <a:prstGeom prst="round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투자 회수 기간 (직거래 기준)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4.3년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E986"/>
                </a:solidFill>
                <a:latin typeface="Arial"/>
              </a:defRPr>
            </a:pPr>
            <a:r>
              <a:t>약 51개월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91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₩30,000,000 ÷ ₩587,200/월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0624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5016"/>
                </a:solidFill>
                <a:latin typeface="Arial"/>
              </a:defRPr>
            </a:pPr>
            <a:r>
              <a:t>판매 채널별 투자 회수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프리미엄 판매 (₩10,000/kg)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7CB342"/>
                </a:solidFill>
                <a:latin typeface="Arial"/>
              </a:defRPr>
            </a:pPr>
            <a:r>
              <a:t>2.3년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4E"/>
                </a:solidFill>
                <a:latin typeface="Arial"/>
              </a:defRPr>
            </a:pPr>
            <a:r>
              <a:t>고급 직판 (₩12,000/kg)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7C23"/>
                </a:solidFill>
                <a:latin typeface="Arial"/>
              </a:defRPr>
            </a:pPr>
            <a:r>
              <a:t>1.7년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69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7C23"/>
                </a:solidFill>
                <a:latin typeface="Arial"/>
              </a:defRPr>
            </a:pPr>
            <a:r>
              <a:t>직판 비율 증가 시 회수 기간 단축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Arial"/>
              </a:defRPr>
            </a:pPr>
            <a:r>
              <a:t>포함 / 불포함 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포함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견적서 명시 모든 자재 및 장비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이동식 레일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설치 및 시운전 공사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펌웨어 및 모니터링 시스템 개발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운영 교육 (2일)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초기 소모품 (1개월분)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6개월 무상 A/S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7C23"/>
                </a:solidFill>
                <a:latin typeface="Arial"/>
              </a:defRPr>
            </a:pPr>
            <a:r>
              <a:t>• 3개월 원격 기술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09728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280160"/>
            <a:ext cx="457200" cy="45720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Arial"/>
              </a:defRPr>
            </a:pPr>
            <a:r>
              <a:t>불포함 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컨테이너 본체 (고객 제공)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컨테이너 내부 단열/방수 공사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전기 인입 공사 (분전반까지)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급/배수 공사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양액 및 종자 (초기분 이후)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77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월간 클라우드 사용료 (약 ₩10,000/월)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4E"/>
                </a:solidFill>
                <a:latin typeface="Arial"/>
              </a:defRPr>
            </a:pPr>
            <a:r>
              <a:t>• 6개월 이후 유상 A/S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82880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5016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8346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7C23"/>
                </a:solidFill>
                <a:latin typeface="Arial"/>
              </a:defRPr>
            </a:pPr>
            <a:r>
              <a:t>문의사항이 있으시면 언제든 연락 주세요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657600"/>
            <a:ext cx="4876495" cy="1097280"/>
          </a:xfrm>
          <a:prstGeom prst="round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37947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D6D4E"/>
                </a:solidFill>
                <a:latin typeface="Arial"/>
              </a:defRPr>
            </a:pPr>
            <a:r>
              <a:t>견적 유효기간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Arial"/>
              </a:defRPr>
            </a:pPr>
            <a:r>
              <a:t>2026년 2월 24일까지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