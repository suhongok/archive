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7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0" y="1371600"/>
            <a:ext cx="7619695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0" y="173736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CB342"/>
                </a:solidFill>
                <a:latin typeface="Arial"/>
              </a:defRPr>
            </a:pPr>
            <a:r>
              <a:t>SMART FARM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286000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5016"/>
                </a:solidFill>
                <a:latin typeface="Arial"/>
              </a:defRPr>
            </a:pPr>
            <a:r>
              <a:t>3×9m 컨테이너 스마트팜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3108960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A7C23"/>
                </a:solidFill>
                <a:latin typeface="Arial"/>
              </a:defRPr>
            </a:pPr>
            <a:r>
              <a:t>설치 제안서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438912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D6D4E"/>
                </a:solidFill>
                <a:latin typeface="Arial"/>
              </a:defRPr>
            </a:pPr>
            <a:r>
              <a:t>2026년 1월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5016"/>
                </a:solidFill>
                <a:latin typeface="Arial"/>
              </a:defRPr>
            </a:pPr>
            <a:r>
              <a:t>프로젝트 개요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0292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D6D4E"/>
                </a:solidFill>
                <a:latin typeface="Arial"/>
              </a:defRPr>
            </a:pPr>
            <a:r>
              <a:t>시설 규모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016"/>
                </a:solidFill>
                <a:latin typeface="Arial"/>
              </a:defRPr>
            </a:pPr>
            <a:r>
              <a:t>3m × 9m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7C23"/>
                </a:solidFill>
                <a:latin typeface="Arial"/>
              </a:defRPr>
            </a:pPr>
            <a:r>
              <a:t>총 27㎡ 컨테이너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50292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391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D6D4E"/>
                </a:solidFill>
                <a:latin typeface="Arial"/>
              </a:defRPr>
            </a:pPr>
            <a:r>
              <a:t>베드 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016"/>
                </a:solidFill>
                <a:latin typeface="Arial"/>
              </a:defRPr>
            </a:pPr>
            <a:r>
              <a:t>4세트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7C23"/>
                </a:solidFill>
                <a:latin typeface="Arial"/>
              </a:defRPr>
            </a:pPr>
            <a:r>
              <a:t>9m 길이 방향 배치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50292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9923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D6D4E"/>
                </a:solidFill>
                <a:latin typeface="Arial"/>
              </a:defRPr>
            </a:pPr>
            <a:r>
              <a:t>세트당 구성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016"/>
                </a:solidFill>
                <a:latin typeface="Arial"/>
              </a:defRPr>
            </a:pPr>
            <a:r>
              <a:t>4층 × 8베드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661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7C23"/>
                </a:solidFill>
                <a:latin typeface="Arial"/>
              </a:defRPr>
            </a:pPr>
            <a:r>
              <a:t>32베드/세트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86200"/>
            <a:ext cx="50292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593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D6D4E"/>
                </a:solidFill>
                <a:latin typeface="Arial"/>
              </a:defRPr>
            </a:pPr>
            <a:r>
              <a:t>총 베드 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016"/>
                </a:solidFill>
                <a:latin typeface="Arial"/>
              </a:defRPr>
            </a:pPr>
            <a:r>
              <a:t>128베드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2628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7C23"/>
                </a:solidFill>
                <a:latin typeface="Arial"/>
              </a:defRPr>
            </a:pPr>
            <a:r>
              <a:t>포트 간격 20cm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1005840"/>
            <a:ext cx="5760720" cy="1371600"/>
          </a:xfrm>
          <a:prstGeom prst="round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14300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총 포트 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14173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1,280 포트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196596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베드당 10포트 × 128베드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2514600"/>
            <a:ext cx="5760720" cy="137160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265176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예상 월 생산량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29260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약 119 kg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47472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8E986"/>
                </a:solidFill>
                <a:latin typeface="Arial"/>
              </a:defRPr>
            </a:pPr>
            <a:r>
              <a:t>96~144kg (로메인, 상추 등)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023360"/>
            <a:ext cx="57607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416052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D6D4E"/>
                </a:solidFill>
                <a:latin typeface="Arial"/>
              </a:defRPr>
            </a:pPr>
            <a:r>
              <a:t>총 계약 금액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4348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5016"/>
                </a:solidFill>
                <a:latin typeface="Arial"/>
              </a:defRPr>
            </a:pPr>
            <a:r>
              <a:t>₩30,000,000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98348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CB342"/>
                </a:solidFill>
                <a:latin typeface="Arial"/>
              </a:defRPr>
            </a:pPr>
            <a:r>
              <a:t>VAT 별도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5016"/>
                </a:solidFill>
                <a:latin typeface="Arial"/>
              </a:defRPr>
            </a:pPr>
            <a:r>
              <a:t>베드 구성 상세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Arial"/>
              </a:defRPr>
            </a:pPr>
            <a:r>
              <a:t>베드 세트 규격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463040" cy="914400"/>
          </a:xfrm>
          <a:prstGeom prst="roundRect">
            <a:avLst/>
          </a:prstGeom>
          <a:solidFill>
            <a:srgbClr val="E8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D6D4E"/>
                </a:solidFill>
                <a:latin typeface="Arial"/>
              </a:defRPr>
            </a:pPr>
            <a:r>
              <a:t>길이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5016"/>
                </a:solidFill>
                <a:latin typeface="Arial"/>
              </a:defRPr>
            </a:pPr>
            <a:r>
              <a:t>2.0m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828800"/>
            <a:ext cx="1463040" cy="914400"/>
          </a:xfrm>
          <a:prstGeom prst="roundRect">
            <a:avLst/>
          </a:prstGeom>
          <a:solidFill>
            <a:srgbClr val="E8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19202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D6D4E"/>
                </a:solidFill>
                <a:latin typeface="Arial"/>
              </a:defRPr>
            </a:pPr>
            <a:r>
              <a:t>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1945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5016"/>
                </a:solidFill>
                <a:latin typeface="Arial"/>
              </a:defRPr>
            </a:pPr>
            <a:r>
              <a:t>3.0m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1828800"/>
            <a:ext cx="1463040" cy="914400"/>
          </a:xfrm>
          <a:prstGeom prst="roundRect">
            <a:avLst/>
          </a:prstGeom>
          <a:solidFill>
            <a:srgbClr val="E8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59" y="19202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D6D4E"/>
                </a:solidFill>
                <a:latin typeface="Arial"/>
              </a:defRPr>
            </a:pPr>
            <a:r>
              <a:t>높이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21945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5016"/>
                </a:solidFill>
                <a:latin typeface="Arial"/>
              </a:defRPr>
            </a:pPr>
            <a:r>
              <a:t>1.5m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26080"/>
            <a:ext cx="4937760" cy="137160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063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세트당 구성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37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4층 × 8베드 = 32베드/세트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8E986"/>
                </a:solidFill>
                <a:latin typeface="Arial"/>
              </a:defRPr>
            </a:pPr>
            <a:r>
              <a:t>베드당 10포트 (20cm 간격)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7763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8E986"/>
                </a:solidFill>
                <a:latin typeface="Arial"/>
              </a:defRPr>
            </a:pPr>
            <a:r>
              <a:t>층별: 벽-베드-베드-복도-베드-베드-기둥-베드-베드-복도-베드-베드-벽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097280"/>
            <a:ext cx="548640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Arial"/>
              </a:defRPr>
            </a:pPr>
            <a:r>
              <a:t>전체 시설 구성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828800"/>
            <a:ext cx="731520" cy="731520"/>
          </a:xfrm>
          <a:prstGeom prst="round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0116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1920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D6D4E"/>
                </a:solidFill>
                <a:latin typeface="Arial"/>
              </a:defRPr>
            </a:pPr>
            <a:r>
              <a:t>베드 세트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194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016"/>
                </a:solidFill>
                <a:latin typeface="Arial"/>
              </a:defRPr>
            </a:pPr>
            <a:r>
              <a:t>9m 길이 방향 배치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2743200"/>
            <a:ext cx="731520" cy="731520"/>
          </a:xfrm>
          <a:prstGeom prst="roundRect">
            <a:avLst/>
          </a:prstGeom>
          <a:solidFill>
            <a:srgbClr val="4A7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926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2834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D6D4E"/>
                </a:solidFill>
                <a:latin typeface="Arial"/>
              </a:defRPr>
            </a:pPr>
            <a:r>
              <a:t>층수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108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016"/>
                </a:solidFill>
                <a:latin typeface="Arial"/>
              </a:defRPr>
            </a:pPr>
            <a:r>
              <a:t>4층 적층 구조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3657600"/>
            <a:ext cx="731520" cy="73152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8404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128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3749039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D6D4E"/>
                </a:solidFill>
                <a:latin typeface="Arial"/>
              </a:defRPr>
            </a:pPr>
            <a:r>
              <a:t>총 베드 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016"/>
                </a:solidFill>
                <a:latin typeface="Arial"/>
              </a:defRPr>
            </a:pPr>
            <a:r>
              <a:t>4세트 × 32베드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4754880"/>
            <a:ext cx="4937760" cy="640080"/>
          </a:xfrm>
          <a:prstGeom prst="round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4892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총 재배 가능 포트: 1,280개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5016"/>
                </a:solidFill>
                <a:latin typeface="Arial"/>
              </a:defRPr>
            </a:pPr>
            <a:r>
              <a:t>스마트팜 시스템 구성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657600" cy="292608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B342"/>
                </a:solidFill>
                <a:latin typeface="Arial"/>
              </a:defRPr>
            </a:pPr>
            <a:r>
              <a:t>재배 시설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• 스테인리스 프레임 4세트</a:t>
            </a:r>
            <a:br/>
            <a:r>
              <a:t>• NFT 재배 채널 128개</a:t>
            </a:r>
            <a:br/>
            <a:r>
              <a:t>• Full Spectrum LED 64개</a:t>
            </a:r>
            <a:br/>
            <a:r>
              <a:t>• 양액 탱크 시스템</a:t>
            </a:r>
            <a:br/>
            <a:r>
              <a:t>• 순환 펌프 8세트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소계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₩16,450,000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097280"/>
            <a:ext cx="3657600" cy="2926080"/>
          </a:xfrm>
          <a:prstGeom prst="roundRect">
            <a:avLst/>
          </a:prstGeom>
          <a:solidFill>
            <a:srgbClr val="4A7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234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8E986"/>
                </a:solidFill>
                <a:latin typeface="Arial"/>
              </a:defRPr>
            </a:pPr>
            <a:r>
              <a:t>환경 제어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6459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• 산업용 환풍기 2대</a:t>
            </a:r>
            <a:br/>
            <a:r>
              <a:t>• 인버터 냉난방기</a:t>
            </a:r>
            <a:br/>
            <a:r>
              <a:t>• 산업용 제습기</a:t>
            </a:r>
            <a:br/>
            <a:r>
              <a:t>• 순환 팬 6대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291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소계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520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₩2,520,000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097280"/>
            <a:ext cx="36576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234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5016"/>
                </a:solidFill>
                <a:latin typeface="Arial"/>
              </a:defRPr>
            </a:pPr>
            <a:r>
              <a:t>센서 및 모니터링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6459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7C23"/>
                </a:solidFill>
                <a:latin typeface="Arial"/>
              </a:defRPr>
            </a:pPr>
            <a:r>
              <a:t>• pH/EC 센서</a:t>
            </a:r>
            <a:br/>
            <a:r>
              <a:t>• 온습도/수온 센서</a:t>
            </a:r>
            <a:br/>
            <a:r>
              <a:t>• ESP32 컨트롤러 3대</a:t>
            </a:r>
            <a:br/>
            <a:r>
              <a:t>• AI 카메라 시스템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291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D6D4E"/>
                </a:solidFill>
                <a:latin typeface="Arial"/>
              </a:defRPr>
            </a:pPr>
            <a:r>
              <a:t>소계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520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Arial"/>
              </a:defRPr>
            </a:pPr>
            <a:r>
              <a:t>₩1,885,000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206240"/>
            <a:ext cx="56692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3434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5016"/>
                </a:solidFill>
                <a:latin typeface="Arial"/>
              </a:defRPr>
            </a:pPr>
            <a:r>
              <a:t>소프트웨어 및 클라우드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7548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7C23"/>
                </a:solidFill>
                <a:latin typeface="Arial"/>
              </a:defRPr>
            </a:pPr>
            <a:r>
              <a:t>• ESP32 펌웨어 개발</a:t>
            </a:r>
            <a:br/>
            <a:r>
              <a:t>• 웹/모바일 대시보드</a:t>
            </a:r>
            <a:br/>
            <a:r>
              <a:t>• AWS 클라우드 연동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436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D6D4E"/>
                </a:solidFill>
                <a:latin typeface="Arial"/>
              </a:defRPr>
            </a:pPr>
            <a:r>
              <a:t>소계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722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Arial"/>
              </a:defRPr>
            </a:pPr>
            <a:r>
              <a:t>₩1,800,000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206240"/>
            <a:ext cx="54864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3434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5016"/>
                </a:solidFill>
                <a:latin typeface="Arial"/>
              </a:defRPr>
            </a:pPr>
            <a:r>
              <a:t>설치 및 교육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75488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7C23"/>
                </a:solidFill>
                <a:latin typeface="Arial"/>
              </a:defRPr>
            </a:pPr>
            <a:r>
              <a:t>• 베드/전기/배관 공사</a:t>
            </a:r>
            <a:br/>
            <a:r>
              <a:t>• 센서 설치 및 교정</a:t>
            </a:r>
            <a:br/>
            <a:r>
              <a:t>• 시운전 및 테스트</a:t>
            </a:r>
            <a:br/>
            <a:r>
              <a:t>• 운영 교육 2일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9436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D6D4E"/>
                </a:solidFill>
                <a:latin typeface="Arial"/>
              </a:defRPr>
            </a:pPr>
            <a:r>
              <a:t>소계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1722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Arial"/>
              </a:defRPr>
            </a:pPr>
            <a:r>
              <a:t>₩6,100,000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5016"/>
                </a:solidFill>
                <a:latin typeface="Arial"/>
              </a:defRPr>
            </a:pPr>
            <a:r>
              <a:t>견적 총괄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640080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5016"/>
                </a:solidFill>
                <a:latin typeface="Arial"/>
              </a:defRPr>
            </a:pPr>
            <a:r>
              <a:t>재배 시설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7C23"/>
                </a:solidFill>
                <a:latin typeface="Arial"/>
              </a:defRPr>
            </a:pPr>
            <a:r>
              <a:t>₩16,450,000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5016"/>
                </a:solidFill>
                <a:latin typeface="Arial"/>
              </a:defRPr>
            </a:pPr>
            <a:r>
              <a:t>환경 제어 장비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7C23"/>
                </a:solidFill>
                <a:latin typeface="Arial"/>
              </a:defRPr>
            </a:pPr>
            <a:r>
              <a:t>₩2,520,000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5016"/>
                </a:solidFill>
                <a:latin typeface="Arial"/>
              </a:defRPr>
            </a:pPr>
            <a:r>
              <a:t>센서 및 모니터링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194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7C23"/>
                </a:solidFill>
                <a:latin typeface="Arial"/>
              </a:defRPr>
            </a:pPr>
            <a:r>
              <a:t>₩1,885,000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5016"/>
                </a:solidFill>
                <a:latin typeface="Arial"/>
              </a:defRPr>
            </a:pPr>
            <a:r>
              <a:t>소프트웨어 및 클라우드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7C23"/>
                </a:solidFill>
                <a:latin typeface="Arial"/>
              </a:defRPr>
            </a:pPr>
            <a:r>
              <a:t>₩1,800,000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5016"/>
                </a:solidFill>
                <a:latin typeface="Arial"/>
              </a:defRPr>
            </a:pPr>
            <a:r>
              <a:t>설치 공사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7C23"/>
                </a:solidFill>
                <a:latin typeface="Arial"/>
              </a:defRPr>
            </a:pPr>
            <a:r>
              <a:t>₩5,200,000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5016"/>
                </a:solidFill>
                <a:latin typeface="Arial"/>
              </a:defRPr>
            </a:pPr>
            <a:r>
              <a:t>기술 지원 및 교육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429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7C23"/>
                </a:solidFill>
                <a:latin typeface="Arial"/>
              </a:defRPr>
            </a:pPr>
            <a:r>
              <a:t>₩900,000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016"/>
                </a:solidFill>
                <a:latin typeface="Arial"/>
              </a:defRPr>
            </a:pPr>
            <a:r>
              <a:t>순 공사비 합계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931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2D5016"/>
                </a:solidFill>
                <a:latin typeface="Arial"/>
              </a:defRPr>
            </a:pPr>
            <a:r>
              <a:t>₩28,755,000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80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D6D4E"/>
                </a:solidFill>
                <a:latin typeface="Arial"/>
              </a:defRPr>
            </a:pPr>
            <a:r>
              <a:t>관리비 및 이윤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480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D6D4E"/>
                </a:solidFill>
                <a:latin typeface="Arial"/>
              </a:defRPr>
            </a:pPr>
            <a:r>
              <a:t>₩1,245,000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1097280"/>
            <a:ext cx="4663440" cy="256032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13716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최종 계약금액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182880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t>₩30,000,000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7432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8E986"/>
                </a:solidFill>
                <a:latin typeface="Arial"/>
              </a:defRPr>
            </a:pPr>
            <a:r>
              <a:t>VAT 별도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3840480"/>
            <a:ext cx="466344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40233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5016"/>
                </a:solidFill>
                <a:latin typeface="Arial"/>
              </a:defRPr>
            </a:pPr>
            <a:r>
              <a:t>VAT 포함 총액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48056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4A7C23"/>
                </a:solidFill>
                <a:latin typeface="Arial"/>
              </a:defRPr>
            </a:pPr>
            <a:r>
              <a:t>₩33,000,000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51206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D6D4E"/>
                </a:solidFill>
                <a:latin typeface="Arial"/>
              </a:defRPr>
            </a:pPr>
            <a:r>
              <a:t>세금계산서 발행 시 청구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5016"/>
                </a:solidFill>
                <a:latin typeface="Arial"/>
              </a:defRPr>
            </a:pPr>
            <a:r>
              <a:t>대금 지급 조건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66160" cy="4114800"/>
          </a:xfrm>
          <a:prstGeom prst="round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0" y="146304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6002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D5016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계약금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₩9,000,000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3017520" cy="548640"/>
          </a:xfrm>
          <a:prstGeom prst="roundRect">
            <a:avLst/>
          </a:prstGeom>
          <a:solidFill>
            <a:srgbClr val="567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159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계약 체결 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188720"/>
            <a:ext cx="3566160" cy="4114800"/>
          </a:xfrm>
          <a:prstGeom prst="roundRect">
            <a:avLst/>
          </a:prstGeom>
          <a:solidFill>
            <a:srgbClr val="4A7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80" y="146304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16002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D5016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중도금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834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40%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₩12,000,000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206240"/>
            <a:ext cx="3017520" cy="548640"/>
          </a:xfrm>
          <a:prstGeom prst="roundRect">
            <a:avLst/>
          </a:prstGeom>
          <a:solidFill>
            <a:srgbClr val="3356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3159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자재 입고 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188720"/>
            <a:ext cx="3566160" cy="411480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09760" y="146304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16002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D5016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잔금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834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30%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₩9,000,000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4206240"/>
            <a:ext cx="3017520" cy="548640"/>
          </a:xfrm>
          <a:prstGeom prst="roundRect">
            <a:avLst/>
          </a:prstGeom>
          <a:solidFill>
            <a:srgbClr val="1F3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3159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설치 완료 및 시운전 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577840"/>
            <a:ext cx="112471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5016"/>
                </a:solidFill>
                <a:latin typeface="Arial"/>
              </a:defRPr>
            </a:pPr>
            <a:r>
              <a:t>참고사항: VAT(10%)는 세금계산서 발행 시 별도 청구됩니다.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5016"/>
                </a:solidFill>
                <a:latin typeface="Arial"/>
              </a:defRPr>
            </a:pPr>
            <a:r>
              <a:t>납품 및 설치 일정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2560320" cy="128016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계약 체결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B342"/>
                </a:solidFill>
                <a:latin typeface="Arial"/>
              </a:defRPr>
            </a:pPr>
            <a:r>
              <a:t>D-day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188720"/>
            <a:ext cx="256032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7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2801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D6D4E"/>
                </a:solidFill>
                <a:latin typeface="Arial"/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5016"/>
                </a:solidFill>
                <a:latin typeface="Arial"/>
              </a:defRPr>
            </a:pPr>
            <a:r>
              <a:t>설계 검토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7C23"/>
                </a:solidFill>
                <a:latin typeface="Arial"/>
              </a:defRPr>
            </a:pPr>
            <a:r>
              <a:t>1주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256032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7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2801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D6D4E"/>
                </a:solidFill>
                <a:latin typeface="Arial"/>
              </a:defRPr>
            </a:pPr>
            <a: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5016"/>
                </a:solidFill>
                <a:latin typeface="Arial"/>
              </a:defRPr>
            </a:pPr>
            <a:r>
              <a:t>자재 발주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7C23"/>
                </a:solidFill>
                <a:latin typeface="Arial"/>
              </a:defRPr>
            </a:pPr>
            <a:r>
              <a:t>4주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188720"/>
            <a:ext cx="256032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2801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D6D4E"/>
                </a:solidFill>
                <a:latin typeface="Arial"/>
              </a:defRPr>
            </a:pPr>
            <a:r>
              <a:t>STEP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5016"/>
                </a:solidFill>
                <a:latin typeface="Arial"/>
              </a:defRPr>
            </a:pPr>
            <a:r>
              <a:t>자재 입고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B342"/>
                </a:solidFill>
                <a:latin typeface="Arial"/>
              </a:defRPr>
            </a:pPr>
            <a:r>
              <a:t>2주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2743200"/>
            <a:ext cx="256032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0240" y="28346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D6D4E"/>
                </a:solidFill>
                <a:latin typeface="Arial"/>
              </a:defRPr>
            </a:pPr>
            <a:r>
              <a:t>STEP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108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5016"/>
                </a:solidFill>
                <a:latin typeface="Arial"/>
              </a:defRPr>
            </a:pPr>
            <a:r>
              <a:t>설치 공사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474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B342"/>
                </a:solidFill>
                <a:latin typeface="Arial"/>
              </a:defRPr>
            </a:pPr>
            <a:r>
              <a:t>2주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2743200"/>
            <a:ext cx="256032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7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28346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D6D4E"/>
                </a:solidFill>
                <a:latin typeface="Arial"/>
              </a:defRPr>
            </a:pPr>
            <a:r>
              <a:t>STEP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108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5016"/>
                </a:solidFill>
                <a:latin typeface="Arial"/>
              </a:defRPr>
            </a:pPr>
            <a:r>
              <a:t>시운전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3474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7C23"/>
                </a:solidFill>
                <a:latin typeface="Arial"/>
              </a:defRPr>
            </a:pPr>
            <a:r>
              <a:t>1주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80960" y="2743200"/>
            <a:ext cx="2560320" cy="1280160"/>
          </a:xfrm>
          <a:prstGeom prst="round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28346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STEP 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3108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교육/인수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3474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3일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4389120"/>
            <a:ext cx="11430000" cy="201168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총 소요 기간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937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약 8~10주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754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8E986"/>
                </a:solidFill>
                <a:latin typeface="Arial"/>
              </a:defRPr>
            </a:pPr>
            <a:r>
              <a:t>중도금 청구: 자재 입고 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5120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8E986"/>
                </a:solidFill>
                <a:latin typeface="Arial"/>
              </a:defRPr>
            </a:pPr>
            <a:r>
              <a:t>잔금 청구: 설치 완료 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5016"/>
                </a:solidFill>
                <a:latin typeface="Arial"/>
              </a:defRPr>
            </a:pPr>
            <a:r>
              <a:t>예상 투자 수익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66928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016"/>
                </a:solidFill>
                <a:latin typeface="Arial"/>
              </a:defRPr>
            </a:pPr>
            <a:r>
              <a:t>기본 가정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303520" cy="457200"/>
          </a:xfrm>
          <a:prstGeom prst="roundRect">
            <a:avLst/>
          </a:prstGeom>
          <a:solidFill>
            <a:srgbClr val="E8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D6D4E"/>
                </a:solidFill>
                <a:latin typeface="Arial"/>
              </a:defRPr>
            </a:pPr>
            <a:r>
              <a:t>총 포트 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783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D5016"/>
                </a:solidFill>
                <a:latin typeface="Arial"/>
              </a:defRPr>
            </a:pPr>
            <a:r>
              <a:t>1,280포트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21992"/>
            <a:ext cx="5303520" cy="457200"/>
          </a:xfrm>
          <a:prstGeom prst="roundRect">
            <a:avLst/>
          </a:prstGeom>
          <a:solidFill>
            <a:srgbClr val="E8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134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D6D4E"/>
                </a:solidFill>
                <a:latin typeface="Arial"/>
              </a:defRPr>
            </a:pPr>
            <a:r>
              <a:t>월 생산량 (평균)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3134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D5016"/>
                </a:solidFill>
                <a:latin typeface="Arial"/>
              </a:defRPr>
            </a:pPr>
            <a:r>
              <a:t>119 kg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52344"/>
            <a:ext cx="5303520" cy="457200"/>
          </a:xfrm>
          <a:prstGeom prst="roundRect">
            <a:avLst/>
          </a:prstGeom>
          <a:solidFill>
            <a:srgbClr val="E8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437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D6D4E"/>
                </a:solidFill>
                <a:latin typeface="Arial"/>
              </a:defRPr>
            </a:pPr>
            <a:r>
              <a:t>판매 단가 (직거래)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8437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D5016"/>
                </a:solidFill>
                <a:latin typeface="Arial"/>
              </a:defRPr>
            </a:pPr>
            <a:r>
              <a:t>₩7,000/kg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82696"/>
            <a:ext cx="5303520" cy="457200"/>
          </a:xfrm>
          <a:prstGeom prst="roundRect">
            <a:avLst/>
          </a:prstGeom>
          <a:solidFill>
            <a:srgbClr val="E8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741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D6D4E"/>
                </a:solidFill>
                <a:latin typeface="Arial"/>
              </a:defRPr>
            </a:pPr>
            <a:r>
              <a:t>월 운영비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3741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D5016"/>
                </a:solidFill>
                <a:latin typeface="Arial"/>
              </a:defRPr>
            </a:pPr>
            <a:r>
              <a:t>₩542,000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86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016"/>
                </a:solidFill>
                <a:latin typeface="Arial"/>
              </a:defRPr>
            </a:pPr>
            <a:r>
              <a:t>수익 분석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9768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D6D4E"/>
                </a:solidFill>
                <a:latin typeface="Arial"/>
              </a:defRPr>
            </a:pPr>
            <a:r>
              <a:t>월간 매출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80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7C23"/>
                </a:solidFill>
                <a:latin typeface="Arial"/>
              </a:defRPr>
            </a:pPr>
            <a:r>
              <a:t>₩833,000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29768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D6D4E"/>
                </a:solidFill>
                <a:latin typeface="Arial"/>
              </a:defRPr>
            </a:pPr>
            <a:r>
              <a:t>월간 운영비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480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32F2F"/>
                </a:solidFill>
                <a:latin typeface="Arial"/>
              </a:defRPr>
            </a:pPr>
            <a:r>
              <a:t>-₩542,000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983480"/>
            <a:ext cx="5303520" cy="91440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07492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월 순이익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₩291,000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1097280"/>
            <a:ext cx="5486400" cy="292608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투자 회수 기간 (직거래 기준)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18288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8.6년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8346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8E986"/>
                </a:solidFill>
                <a:latin typeface="Arial"/>
              </a:defRPr>
            </a:pPr>
            <a:r>
              <a:t>약 103개월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291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₩30,000,000 ÷ ₩291,000/월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4206240"/>
            <a:ext cx="54864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3434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5016"/>
                </a:solidFill>
                <a:latin typeface="Arial"/>
              </a:defRPr>
            </a:pPr>
            <a:r>
              <a:t>판매 채널별 투자 회수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754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D6D4E"/>
                </a:solidFill>
                <a:latin typeface="Arial"/>
              </a:defRPr>
            </a:pPr>
            <a:r>
              <a:t>프리미엄 판매 (₩10,000/kg)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4754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7CB342"/>
                </a:solidFill>
                <a:latin typeface="Arial"/>
              </a:defRPr>
            </a:pPr>
            <a:r>
              <a:t>3.9년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166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D6D4E"/>
                </a:solidFill>
                <a:latin typeface="Arial"/>
              </a:defRPr>
            </a:pPr>
            <a:r>
              <a:t>고급 직판 (₩12,000/kg)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5166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A7C23"/>
                </a:solidFill>
                <a:latin typeface="Arial"/>
              </a:defRPr>
            </a:pPr>
            <a:r>
              <a:t>2.8년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669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7C23"/>
                </a:solidFill>
                <a:latin typeface="Arial"/>
              </a:defRPr>
            </a:pPr>
            <a:r>
              <a:t>직판 비율 증가 시 회수 기간 단축 가능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5016"/>
                </a:solidFill>
                <a:latin typeface="Arial"/>
              </a:defRPr>
            </a:pPr>
            <a:r>
              <a:t>포함 / 불포함 사항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66928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Arial"/>
              </a:defRPr>
            </a:pPr>
            <a:r>
              <a:t>포함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7C23"/>
                </a:solidFill>
                <a:latin typeface="Arial"/>
              </a:defRPr>
            </a:pPr>
            <a:r>
              <a:t>• 견적서 명시 모든 자재 및 장비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7C23"/>
                </a:solidFill>
                <a:latin typeface="Arial"/>
              </a:defRPr>
            </a:pPr>
            <a:r>
              <a:t>• 설치 및 시운전 공사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7C23"/>
                </a:solidFill>
                <a:latin typeface="Arial"/>
              </a:defRPr>
            </a:pPr>
            <a:r>
              <a:t>• 펌웨어 및 모니터링 시스템 개발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7C23"/>
                </a:solidFill>
                <a:latin typeface="Arial"/>
              </a:defRPr>
            </a:pPr>
            <a:r>
              <a:t>• 운영 교육 (2일)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7C23"/>
                </a:solidFill>
                <a:latin typeface="Arial"/>
              </a:defRPr>
            </a:pPr>
            <a:r>
              <a:t>• 기술 문서 및 매뉴얼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77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7C23"/>
                </a:solidFill>
                <a:latin typeface="Arial"/>
              </a:defRPr>
            </a:pPr>
            <a:r>
              <a:t>• 초기 소모품 (1개월분)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7C23"/>
                </a:solidFill>
                <a:latin typeface="Arial"/>
              </a:defRPr>
            </a:pPr>
            <a:r>
              <a:t>• 6개월 무상 A/S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00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7C23"/>
                </a:solidFill>
                <a:latin typeface="Arial"/>
              </a:defRPr>
            </a:pPr>
            <a:r>
              <a:t>• 3개월 원격 기술 지원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097280"/>
            <a:ext cx="548640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280160"/>
            <a:ext cx="457200" cy="457200"/>
          </a:xfrm>
          <a:prstGeom prst="ellipse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371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Arial"/>
              </a:defRPr>
            </a:pPr>
            <a:r>
              <a:t>불포함 사항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920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D6D4E"/>
                </a:solidFill>
                <a:latin typeface="Arial"/>
              </a:defRPr>
            </a:pPr>
            <a:r>
              <a:t>• 컨테이너 본체 (고객 제공)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D6D4E"/>
                </a:solidFill>
                <a:latin typeface="Arial"/>
              </a:defRPr>
            </a:pPr>
            <a:r>
              <a:t>• 컨테이너 내부 단열/방수 공사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D6D4E"/>
                </a:solidFill>
                <a:latin typeface="Arial"/>
              </a:defRPr>
            </a:pPr>
            <a:r>
              <a:t>• 전기 인입 공사 (분전반까지)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154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D6D4E"/>
                </a:solidFill>
                <a:latin typeface="Arial"/>
              </a:defRPr>
            </a:pPr>
            <a:r>
              <a:t>• 급/배수 공사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566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D6D4E"/>
                </a:solidFill>
                <a:latin typeface="Arial"/>
              </a:defRPr>
            </a:pPr>
            <a:r>
              <a:t>• 양액 및 종자 (초기분 이후)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977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D6D4E"/>
                </a:solidFill>
                <a:latin typeface="Arial"/>
              </a:defRPr>
            </a:pPr>
            <a:r>
              <a:t>• 월간 클라우드 사용료 (약 ₩10,000/월)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3891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D6D4E"/>
                </a:solidFill>
                <a:latin typeface="Arial"/>
              </a:defRPr>
            </a:pPr>
            <a:r>
              <a:t>• 6개월 이후 유상 A/S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7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0" y="1371600"/>
            <a:ext cx="7619695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0" y="1828800"/>
            <a:ext cx="7040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D5016"/>
                </a:solidFill>
                <a:latin typeface="Arial"/>
              </a:defRPr>
            </a:pPr>
            <a: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83464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A7C23"/>
                </a:solidFill>
                <a:latin typeface="Arial"/>
              </a:defRPr>
            </a:pPr>
            <a:r>
              <a:t>문의사항이 있으시면 언제든 연락 주세요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3657600"/>
            <a:ext cx="4876495" cy="1097280"/>
          </a:xfrm>
          <a:prstGeom prst="round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379476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D6D4E"/>
                </a:solidFill>
                <a:latin typeface="Arial"/>
              </a:defRPr>
            </a:pPr>
            <a:r>
              <a:t>견적 유효기간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41148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5016"/>
                </a:solidFill>
                <a:latin typeface="Arial"/>
              </a:defRPr>
            </a:pPr>
            <a:r>
              <a:t>2026년 2월 22일까지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