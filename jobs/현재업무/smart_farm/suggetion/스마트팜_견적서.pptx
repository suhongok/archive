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견적서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E6C8"/>
                </a:solidFill>
                <a:latin typeface="Arial"/>
              </a:defRPr>
            </a:pPr>
            <a:r>
              <a:t>3×9m 컨테이너 스마트팜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프로젝트: 실내 수경재배 스마트팜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  <a:latin typeface="Arial"/>
              </a:defRPr>
            </a:pPr>
            <a:r>
              <a:t>계약 금액: ₩30,000,000 (VAT 별도)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B4"/>
                </a:solidFill>
                <a:latin typeface="Arial"/>
              </a:defRPr>
            </a:pPr>
            <a:r>
              <a:t>견적일: 2026년 1월 23일 | 유효기간: 30일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시설 규모 및 생산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📐 시설 사양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시설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3m × 9m 컨테이너 (27㎡)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베드 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4세트 (9m 길이 방향 배치)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세트당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4층 × 8베드 = 32베드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총 베드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128베드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포트 간격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20cm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5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베드당 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57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10포트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023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1,280포트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📊 핵심 지표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2560320" cy="12801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1,280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828800"/>
            <a:ext cx="2560320" cy="128016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~119kg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월 생산량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📦 베드 세트 규격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40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세트 크기: 2m(L) × 3m(W) × 1.5m(H)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4층 적층, 각 층 8베드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스테인리스 프레임 구조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Arial"/>
              </a:defRPr>
            </a:pPr>
            <a:r>
              <a:t>계약 금액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20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000" b="1">
                <a:solidFill>
                  <a:srgbClr val="2D5016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Arial"/>
              </a:defRPr>
            </a:pPr>
            <a:r>
              <a:t>(VAT 별도)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상세 견적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2.1 재배 시설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71600"/>
            <a:ext cx="320040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39" y="1444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규격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91440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447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수량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71600"/>
            <a:ext cx="137160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단가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371600"/>
            <a:ext cx="164592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447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금액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4층 재배 베드 프레임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828800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1901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2m×3m×1.5m, 스테인리스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901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4세트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828800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₩1,200,000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28800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9019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₩4,800,000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6771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NFT 재배 채널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94560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39" y="2267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PVC, 10포트 (20cm간격)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9456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267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128개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19456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267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19456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₩4,480,000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60320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334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LED 생장등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2560320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39" y="2633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Full Spectrum 30W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560320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6334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64개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2633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560320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2633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₩5,120,000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26079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99923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LED 고정 브라켓 및 배선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2926079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39" y="29992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알루미늄 프로파일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92607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9992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4세트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2926079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2999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292607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29992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₩320,000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91839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36499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세트별 양액 탱크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3291839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63239" y="336499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PE 100L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291839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336499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3291839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336499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3291839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49640" y="33649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₩320,000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57599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373075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메인 양액 탱크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657599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63239" y="373075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PE 500L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65759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373075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1개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3657599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78040" y="373075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365759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49640" y="37307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023359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09651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양액 순환 펌프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4023359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63239" y="40965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DC 12V, 양정 3m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4023359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409651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8개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4023359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78040" y="409651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₩45,000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3920" y="4023359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49640" y="409651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₩360,000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389120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44622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배관 및 피팅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4389120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63239" y="4462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PVC, 연결부품 일체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17920" y="438912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4462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1식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32320" y="438912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78040" y="44622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₩700,000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03920" y="43891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49640" y="4462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₩700,000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846320"/>
            <a:ext cx="9692640" cy="457200"/>
          </a:xfrm>
          <a:prstGeom prst="rect">
            <a:avLst/>
          </a:prstGeom>
          <a:solidFill>
            <a:srgbClr val="E8F5E9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4937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재배 시설 소계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0" y="4937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₩16,450,000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상세 견적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2.2 환경 제어 장비 &amp; 2.3 센서/모니터링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🌡️ 환경 제어 장비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산업용 환풍기 400mm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2개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₩360,000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냉난방기 (인버터 18평형)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38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₩1,500,000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제습기 (산업용 50L/일)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311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₩450,000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23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순환 팬 DC 200mm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523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6개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237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₩210,000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62071"/>
            <a:ext cx="54864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895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950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📡 센서 및 모니터링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45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pH 센서 (산업용)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6459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645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₩240,000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901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EC 센서 (전도도)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9019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019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579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수온 센서 DS18B20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1579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4개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1579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₩60,000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4140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온습도 센서 SHT30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41401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4140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메인 컨트롤러 ESP32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6700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6700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₩150,000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926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엣지 서버 Raspberry Pi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9260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9260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₩120,000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1821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AI 카메라 Pi Camera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1821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182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438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릴레이 모듈 8채널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4381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4381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6941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전원 공급 장치 SMPS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6941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6941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₩135,000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3950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배선 및 커넥터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3950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950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₩300,000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제어반 판넬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206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206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₩350,000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507992"/>
            <a:ext cx="53035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4535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535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₩1,885,000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상세 견적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2.4 소프트웨어 &amp; 2.5 설치 공사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💻 소프트웨어 및 클라우드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펌웨어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91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ESP32 제어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₩800,000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모니터링 앱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39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웹/모바일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39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₩600,000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클라우드 연동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86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AWS IoT 초기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86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₩400,000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79775"/>
            <a:ext cx="54864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07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🔧 설치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베드 설치 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프레임 조립, 채널 설치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₩2,000,000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전기 배선 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LED, 펌프, 제어판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₩1,000,000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배관 공사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양액 순환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환경 제어 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냉난방기, 환풍기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센서 설치 및 캘리브레이션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전 센서 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시운전 및 테스트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3일간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₩600,000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657600"/>
            <a:ext cx="53035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685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685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₩5,200,000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📚 기술 지원 및 교육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운영 교육 (2일)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시스템 운영, 양액 관리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₩500,000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기술 문서 제공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553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매뉴얼, 유지보수 가이드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553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₩200,000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9011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초기 양액/종자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90118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1개월분 소모품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90118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₩200,000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294375"/>
            <a:ext cx="54864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3218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₩900,000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🎁 무상 서비스 (포함)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• 6개월 무상 A/S (하자 보수)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• 3개월 원격 기술 지원 (모니터링, 문의 대응)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3. 견적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항목별 합계 및 최종 금액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재배 시설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₩16,450,000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환경 제어 장비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93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센서 및 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50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₩1,885,000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소프트웨어 및 클라우드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64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₩5,200,000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기술 지원 및 교육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221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₩900,000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6400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순 공사비 합계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3708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₩28,755,000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관리비 및 이윤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808080"/>
                </a:solidFill>
                <a:latin typeface="Arial"/>
              </a:defRPr>
            </a:pPr>
            <a:r>
              <a:t>₩1,245,000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463040"/>
            <a:ext cx="4389120" cy="32004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37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8"/>
                </a:solidFill>
                <a:latin typeface="Arial"/>
              </a:defRPr>
            </a:pPr>
            <a:r>
              <a:t>최종 계약금액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1945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108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B4"/>
                </a:solidFill>
                <a:latin typeface="Arial"/>
              </a:defRPr>
            </a:pPr>
            <a:r>
              <a:t>VAT (10%)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383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₩3,000,000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800"/>
                </a:solidFill>
                <a:latin typeface="Arial"/>
              </a:defRPr>
            </a:pPr>
            <a:r>
              <a:t>VAT 포함 총액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800"/>
                </a:solidFill>
                <a:latin typeface="Arial"/>
              </a:defRPr>
            </a:pPr>
            <a:r>
              <a:t>₩33,000,000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4. 대금 지급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계약금 / 중도금 / 잔금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256032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계약금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Arial"/>
              </a:defRPr>
            </a:pPr>
            <a:r>
              <a:t>계약 체결 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200400" cy="25603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중도금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Arial"/>
              </a:defRPr>
            </a:pPr>
            <a:r>
              <a:t>자재 입고 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₩12,000,000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200400" cy="2560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잔금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Arial"/>
              </a:defRPr>
            </a:pPr>
            <a:r>
              <a:t>설치 완료 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1033272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Arial"/>
              </a:defRPr>
            </a:pPr>
            <a:r>
              <a:t>합계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※ VAT는 세금계산서 발행 시 별도 청구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5. 납품 및 설치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총 소요 기간: 약 8~10주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계약 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D-day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286000"/>
            <a:ext cx="1234439" cy="4572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설계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461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2286000"/>
            <a:ext cx="2240280" cy="4572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2926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자재 발주/제작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4주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286000"/>
            <a:ext cx="160020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9260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자재 입고/검수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461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2286000"/>
            <a:ext cx="17830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9260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246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59" y="2286000"/>
            <a:ext cx="1417320" cy="4572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29260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시운전/조정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32461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399" y="2286000"/>
            <a:ext cx="1234439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399" y="292608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교육/인수인계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399" y="32461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📌 주요 마일스톤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89120"/>
            <a:ext cx="3474720" cy="822960"/>
          </a:xfrm>
          <a:prstGeom prst="roundRect">
            <a:avLst/>
          </a:prstGeom>
          <a:solidFill>
            <a:srgbClr val="F5F7F0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016"/>
                </a:solidFill>
                <a:latin typeface="Arial"/>
              </a:defRPr>
            </a:pPr>
            <a:r>
              <a:t>✓ 계약 체결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계약금 30% 청구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389120"/>
            <a:ext cx="3474720" cy="822960"/>
          </a:xfrm>
          <a:prstGeom prst="roundRect">
            <a:avLst/>
          </a:prstGeom>
          <a:solidFill>
            <a:srgbClr val="F5F7F0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016"/>
                </a:solidFill>
                <a:latin typeface="Arial"/>
              </a:defRPr>
            </a:pPr>
            <a:r>
              <a:t>✓ 자재 입고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중도금 40% 청구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59" y="4389120"/>
            <a:ext cx="3474720" cy="822960"/>
          </a:xfrm>
          <a:prstGeom prst="roundRect">
            <a:avLst/>
          </a:prstGeom>
          <a:solidFill>
            <a:srgbClr val="F5F7F0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016"/>
                </a:solidFill>
                <a:latin typeface="Arial"/>
              </a:defRPr>
            </a:pPr>
            <a:r>
              <a:t>✓ 시운전 완료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잔금 30% 청구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6. 포함 / 불포함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계약 범위 명확화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✅ 포함 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견적서 명시된 모든 자재 및 장비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설치 및 시운전 공사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980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펌웨어 및 모니터링 시스템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45535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운영 교육 (2일)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기술 문서 및 매뉴얼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초기 소모품 (1개월분)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87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6개월 무상 A/S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3542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3개월 원격 기술 지원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438912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000"/>
                </a:solidFill>
                <a:latin typeface="Arial"/>
              </a:defRPr>
            </a:pPr>
            <a:r>
              <a:t>⛔ 불포함 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컨테이너 본체 (고객 제공)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505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컨테이너 내부 단열/방수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980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전기 인입 공사 (분전반까지)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45535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급/배수 공사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930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양액 및 종자 (초기분 이후)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월간 클라우드 사용료 (약 ₩10,000/월)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87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6개월 이후 유상 A/S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7. 예상 투자 수익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ROI 분석 및 수익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📊 기본 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1,280포트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월 생산량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약 119kg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판매 단가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₩7,000/kg (직거래)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월 운영비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₩542,000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💰 월간 수익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매출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₩833,000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운영비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₩542,000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순이익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₩291,000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8"/>
                </a:solidFill>
                <a:latin typeface="Arial"/>
              </a:defRPr>
            </a:pPr>
            <a:r>
              <a:t>투자 회수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8.6년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C8B4"/>
                </a:solidFill>
                <a:latin typeface="Arial"/>
              </a:defRPr>
            </a:pPr>
            <a:r>
              <a:t>(₩30,000,000 ÷ ₩291,000/월)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📈 수익 개선 시나리오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시나리오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판매단가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월순이익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회수기간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도매 전량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343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₩3,500/kg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434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적자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343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636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직거래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636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₩7,000/kg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636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₩291,000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636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8.6년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28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프리미엄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9286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₩10,000/kg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928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₩648,000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9286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B342"/>
                </a:solidFill>
                <a:latin typeface="Arial"/>
              </a:defRPr>
            </a:pPr>
            <a:r>
              <a:t>3.9년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21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고급 직판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2212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₩12,000/kg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5221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₩886,000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B342"/>
                </a:solidFill>
                <a:latin typeface="Arial"/>
              </a:defRPr>
            </a:pPr>
            <a:r>
              <a:t>2.8년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※ 직판 비율 증가 및 프리미엄 판매 채널 확보 시 투자 회수 기간 단축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8. 특기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참고 및 유의사항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현장 여건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9339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현장 여건에 따라 견적 변동 가능 (현장 실사 후 확정)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컨테이너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62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컨테이너 상태에 따라 추가 공사 발생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289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전기 용량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단상 220V, 30A 이상 권장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급수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9943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수도 연결 필요 (양액 제조용)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21208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접근성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설치 장소 접근성에 따라 장비 반입 비용 추가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9144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8"/>
                </a:solidFill>
                <a:latin typeface="Arial"/>
              </a:defRPr>
            </a:pPr>
            <a:r>
              <a:t>본 견적서는 상기 내용으로 제안드리며,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8"/>
                </a:solidFill>
                <a:latin typeface="Arial"/>
              </a:defRPr>
            </a:pPr>
            <a:r>
              <a:t>세부 사항은 협의 후 조정 가능합니다.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800"/>
                </a:solidFill>
                <a:latin typeface="Arial"/>
              </a:defRPr>
            </a:pPr>
            <a:r>
              <a:t>견적 유효기간: 2026년 2월 22일까지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669280"/>
            <a:ext cx="4873752" cy="822960"/>
          </a:xfrm>
          <a:prstGeom prst="roundRect">
            <a:avLst/>
          </a:prstGeom>
          <a:solidFill>
            <a:srgbClr val="234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5806440"/>
            <a:ext cx="4507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담당자: (담당자명)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080760"/>
            <a:ext cx="4507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C8B4"/>
                </a:solidFill>
                <a:latin typeface="Arial"/>
              </a:defRPr>
            </a:pPr>
            <a:r>
              <a:t>연락처: (연락처) | 이메일: (이메일)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