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embeddedFontLst>
    <p:embeddedFont>
      <p:font typeface="Questrial" pitchFamily="2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글로벌 스마트팜 (억 달러)</c:v>
                </c:pt>
              </c:strCache>
            </c:strRef>
          </c:tx>
          <c:spPr>
            <a:solidFill>
              <a:srgbClr val="4DA7FF">
                <a:alpha val="10000"/>
              </a:srgbClr>
            </a:solidFill>
            <a:ln w="38100">
              <a:solidFill>
                <a:srgbClr val="4DA7FF"/>
              </a:solidFill>
            </a:ln>
          </c:spPr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  <c:pt idx="4">
                  <c:v>2028</c:v>
                </c:pt>
                <c:pt idx="5">
                  <c:v>2030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124</c:v>
                </c:pt>
                <c:pt idx="1">
                  <c:v>174</c:v>
                </c:pt>
                <c:pt idx="2">
                  <c:v>250</c:v>
                </c:pt>
                <c:pt idx="3">
                  <c:v>341</c:v>
                </c:pt>
                <c:pt idx="4">
                  <c:v>450</c:v>
                </c:pt>
                <c:pt idx="5">
                  <c:v>580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농업용 로봇 (억 달러)</c:v>
                </c:pt>
              </c:strCache>
            </c:strRef>
          </c:tx>
          <c:spPr>
            <a:solidFill>
              <a:srgbClr val="10B981">
                <a:alpha val="10000"/>
              </a:srgbClr>
            </a:solidFill>
            <a:ln w="38100">
              <a:solidFill>
                <a:srgbClr val="10B981"/>
              </a:solidFill>
            </a:ln>
          </c:spPr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  <c:pt idx="4">
                  <c:v>2028</c:v>
                </c:pt>
                <c:pt idx="5">
                  <c:v>2030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120</c:v>
                </c:pt>
                <c:pt idx="2">
                  <c:v>196</c:v>
                </c:pt>
                <c:pt idx="3">
                  <c:v>320</c:v>
                </c:pt>
                <c:pt idx="4">
                  <c:v>550</c:v>
                </c:pt>
                <c:pt idx="5">
                  <c:v>900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국내 스마트농업 (천억원)</c:v>
                </c:pt>
              </c:strCache>
            </c:strRef>
          </c:tx>
          <c:spPr>
            <a:solidFill>
              <a:srgbClr val="F59E0B">
                <a:alpha val="10000"/>
              </a:srgbClr>
            </a:solidFill>
            <a:ln w="38100">
              <a:solidFill>
                <a:srgbClr val="F59E0B"/>
              </a:solidFill>
            </a:ln>
          </c:spPr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  <c:pt idx="4">
                  <c:v>2028</c:v>
                </c:pt>
                <c:pt idx="5">
                  <c:v>2030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31</c:v>
                </c:pt>
                <c:pt idx="1">
                  <c:v>42</c:v>
                </c:pt>
                <c:pt idx="2">
                  <c:v>55</c:v>
                </c:pt>
                <c:pt idx="3">
                  <c:v>60</c:v>
                </c:pt>
                <c:pt idx="4">
                  <c:v>75</c:v>
                </c:pt>
                <c:pt idx="5">
                  <c:v>90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majorGridlines>
          <c:spPr>
            <a:ln w="12700">
              <a:solidFill>
                <a:srgbClr val="F9FAFC">
                  <a:alpha val="10000"/>
                </a:srgb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25">
                <a:solidFill>
                  <a:srgbClr val="CBD5E1"/>
                </a:solidFill>
                <a:latin typeface="Questrial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in val="0.0"/>
        </c:scaling>
        <c:delete val="0"/>
        <c:axPos val="l"/>
        <c:majorGridlines>
          <c:spPr>
            <a:ln w="12700">
              <a:solidFill>
                <a:srgbClr val="F9FAFC">
                  <a:alpha val="10000"/>
                </a:srgbClr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825">
                <a:solidFill>
                  <a:srgbClr val="CBD5E1"/>
                </a:solidFill>
                <a:latin typeface="Questrial"/>
              </a:defRPr>
            </a:pPr>
          </a:p>
        </c:txPr>
        <c:crossAx val="-2101159928"/>
        <c:crosses val="autoZero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CBD5E1"/>
              </a:solidFill>
              <a:latin typeface="Questrial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개발 진행률 (%)</c:v>
                </c:pt>
              </c:strCache>
            </c:strRef>
          </c:tx>
          <c:spPr>
            <a:solidFill>
              <a:srgbClr val="4DA7FF">
                <a:alpha val="10000"/>
              </a:srgbClr>
            </a:solidFill>
            <a:ln w="38100">
              <a:solidFill>
                <a:srgbClr val="4DA7FF"/>
              </a:solidFill>
            </a:ln>
          </c:spPr>
          <c:cat>
            <c:strRef>
              <c:f>Sheet1!$A$2:$A$8</c:f>
              <c:strCache>
                <c:ptCount val="7"/>
                <c:pt idx="0">
                  <c:v>2026 Q1</c:v>
                </c:pt>
                <c:pt idx="1">
                  <c:v>2026 Q3</c:v>
                </c:pt>
                <c:pt idx="2">
                  <c:v>2027 Q1</c:v>
                </c:pt>
                <c:pt idx="3">
                  <c:v>2027 Q3</c:v>
                </c:pt>
                <c:pt idx="4">
                  <c:v>2028 Q1</c:v>
                </c:pt>
                <c:pt idx="5">
                  <c:v>2028 Q3</c:v>
                </c:pt>
                <c:pt idx="6">
                  <c:v>2029 Q1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35</c:v>
                </c:pt>
                <c:pt idx="2">
                  <c:v>55</c:v>
                </c:pt>
                <c:pt idx="3">
                  <c:v>70</c:v>
                </c:pt>
                <c:pt idx="4">
                  <c:v>85</c:v>
                </c:pt>
                <c:pt idx="5">
                  <c:v>95</c:v>
                </c:pt>
                <c:pt idx="6">
                  <c:v>100</c:v>
                </c:pt>
              </c:numCache>
            </c:numRef>
          </c:val>
          <c:marker>
            <c:size val="12"/>
            <c:spPr>
              <a:solidFill>
                <a:srgbClr val="4DA7FF"/>
              </a:solidFill>
              <a:ln w="25400">
                <a:solidFill>
                  <a:srgbClr val="FFFFFF"/>
                </a:solidFill>
              </a:ln>
            </c:spPr>
          </c:marker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시장 진입 준비도 (%)</c:v>
                </c:pt>
              </c:strCache>
            </c:strRef>
          </c:tx>
          <c:spPr>
            <a:solidFill>
              <a:srgbClr val="10B981">
                <a:alpha val="10000"/>
              </a:srgbClr>
            </a:solidFill>
            <a:ln w="38100">
              <a:solidFill>
                <a:srgbClr val="10B981"/>
              </a:solidFill>
            </a:ln>
          </c:spPr>
          <c:cat>
            <c:strRef>
              <c:f>Sheet1!$A$2:$A$8</c:f>
              <c:strCache>
                <c:ptCount val="7"/>
                <c:pt idx="0">
                  <c:v>2026 Q1</c:v>
                </c:pt>
                <c:pt idx="1">
                  <c:v>2026 Q3</c:v>
                </c:pt>
                <c:pt idx="2">
                  <c:v>2027 Q1</c:v>
                </c:pt>
                <c:pt idx="3">
                  <c:v>2027 Q3</c:v>
                </c:pt>
                <c:pt idx="4">
                  <c:v>2028 Q1</c:v>
                </c:pt>
                <c:pt idx="5">
                  <c:v>2028 Q3</c:v>
                </c:pt>
                <c:pt idx="6">
                  <c:v>2029 Q1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75</c:v>
                </c:pt>
                <c:pt idx="5">
                  <c:v>90</c:v>
                </c:pt>
                <c:pt idx="6">
                  <c:v>100</c:v>
                </c:pt>
              </c:numCache>
            </c:numRef>
          </c:val>
          <c:marker>
            <c:size val="12"/>
            <c:spPr>
              <a:solidFill>
                <a:srgbClr val="10B981"/>
              </a:solidFill>
              <a:ln w="25400">
                <a:solidFill>
                  <a:srgbClr val="FFFFFF"/>
                </a:solidFill>
              </a:ln>
            </c:spPr>
          </c:marker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majorGridlines>
          <c:spPr>
            <a:ln w="12700">
              <a:solidFill>
                <a:srgbClr val="F4F6F9">
                  <a:alpha val="20000"/>
                </a:srgbClr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25">
                <a:solidFill>
                  <a:srgbClr val="CBD5E1"/>
                </a:solidFill>
                <a:latin typeface="Calibri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ax val="100.0"/>
        </c:scaling>
        <c:delete val="0"/>
        <c:axPos val="l"/>
        <c:majorGridlines>
          <c:spPr>
            <a:ln w="12700">
              <a:solidFill>
                <a:srgbClr val="F4F6F9">
                  <a:alpha val="20000"/>
                </a:srgbClr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825">
                <a:solidFill>
                  <a:srgbClr val="CBD5E1"/>
                </a:solidFill>
                <a:latin typeface="Calibri"/>
              </a:defRPr>
            </a:pPr>
          </a:p>
        </c:txPr>
        <c:crossAx val="-2101159928"/>
        <c:crosses val="autoZero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900">
              <a:solidFill>
                <a:srgbClr val="E0F2FE"/>
              </a:solidFill>
              <a:latin typeface="Calibri"/>
            </a:defRPr>
          </a:pPr>
        </a:p>
      </c:txPr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투자 유치 (억원)</c:v>
                </c:pt>
              </c:strCache>
            </c:strRef>
          </c:tx>
          <c:spPr>
            <a:solidFill>
              <a:srgbClr val="4DA7FF"/>
            </a:solidFill>
            <a:ln w="12700">
              <a:solidFill>
                <a:srgbClr val="2E5BFF"/>
              </a:solidFill>
            </a:ln>
          </c:spPr>
          <c:cat>
            <c:strRef>
              <c:f>Sheet1!$A$2:$A$6</c:f>
              <c:strCache>
                <c:ptCount val="5"/>
                <c:pt idx="0">
                  <c:v>2026년
(1단계)</c:v>
                </c:pt>
                <c:pt idx="1">
                  <c:v>2027년
(2단계)</c:v>
                </c:pt>
                <c:pt idx="2">
                  <c:v>2028년
(2단계)</c:v>
                </c:pt>
                <c:pt idx="3">
                  <c:v>2029년
(3단계)</c:v>
                </c:pt>
                <c:pt idx="4">
                  <c:v>2030년
(3단계)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7</c:v>
                </c:pt>
                <c:pt idx="2">
                  <c:v>3</c:v>
                </c:pt>
                <c:pt idx="3">
                  <c:v>30</c:v>
                </c:pt>
                <c:pt idx="4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예상 매출 (억원)</c:v>
                </c:pt>
              </c:strCache>
            </c:strRef>
          </c:tx>
          <c:spPr>
            <a:solidFill>
              <a:srgbClr val="10B981"/>
            </a:solidFill>
            <a:ln w="12700">
              <a:solidFill>
                <a:srgbClr val="059669"/>
              </a:solidFill>
            </a:ln>
          </c:spPr>
          <c:cat>
            <c:strRef>
              <c:f>Sheet1!$A$2:$A$6</c:f>
              <c:strCache>
                <c:ptCount val="5"/>
                <c:pt idx="0">
                  <c:v>2026년
(1단계)</c:v>
                </c:pt>
                <c:pt idx="1">
                  <c:v>2027년
(2단계)</c:v>
                </c:pt>
                <c:pt idx="2">
                  <c:v>2028년
(2단계)</c:v>
                </c:pt>
                <c:pt idx="3">
                  <c:v>2029년
(3단계)</c:v>
                </c:pt>
                <c:pt idx="4">
                  <c:v>2030년
(3단계)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5</c:v>
                </c:pt>
                <c:pt idx="2">
                  <c:v>20</c:v>
                </c:pt>
                <c:pt idx="3">
                  <c:v>50</c:v>
                </c:pt>
                <c:pt idx="4">
                  <c:v>200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>
          <c:spPr>
            <a:ln w="12700">
              <a:solidFill>
                <a:srgbClr val="F9FAFC">
                  <a:alpha val="10000"/>
                </a:srgbClr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CBD5E1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12700">
              <a:solidFill>
                <a:srgbClr val="F9FAFC">
                  <a:alpha val="10000"/>
                </a:srgbClr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solidFill>
                  <a:srgbClr val="CBD5E1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solidFill>
                <a:srgbClr val="E0F2FE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0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1.png"/><Relationship Id="rId10" Type="http://schemas.openxmlformats.org/officeDocument/2006/relationships/image" Target="../media/image17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21.png"/><Relationship Id="rId11" Type="http://schemas.openxmlformats.org/officeDocument/2006/relationships/image" Target="../media/image37.png"/><Relationship Id="rId12" Type="http://schemas.openxmlformats.org/officeDocument/2006/relationships/image" Target="../media/image3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Relationship Id="rId15" Type="http://schemas.openxmlformats.org/officeDocument/2006/relationships/image" Target="../media/image50.png"/><Relationship Id="rId16" Type="http://schemas.openxmlformats.org/officeDocument/2006/relationships/image" Target="../media/image51.png"/><Relationship Id="rId17" Type="http://schemas.openxmlformats.org/officeDocument/2006/relationships/image" Target="../media/image52.png"/><Relationship Id="rId18" Type="http://schemas.openxmlformats.org/officeDocument/2006/relationships/image" Target="../media/image53.png"/><Relationship Id="rId19" Type="http://schemas.openxmlformats.org/officeDocument/2006/relationships/image" Target="../media/image54.png"/><Relationship Id="rId20" Type="http://schemas.openxmlformats.org/officeDocument/2006/relationships/image" Target="../media/image5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Relationship Id="rId13" Type="http://schemas.openxmlformats.org/officeDocument/2006/relationships/image" Target="../media/image6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73.png"/><Relationship Id="rId12" Type="http://schemas.openxmlformats.org/officeDocument/2006/relationships/image" Target="../media/image7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2.xml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8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Relationship Id="rId11" Type="http://schemas.openxmlformats.org/officeDocument/2006/relationships/image" Target="../media/image88.png"/><Relationship Id="rId12" Type="http://schemas.openxmlformats.org/officeDocument/2006/relationships/image" Target="../media/image89.png"/><Relationship Id="rId13" Type="http://schemas.openxmlformats.org/officeDocument/2006/relationships/image" Target="../media/image90.png"/><Relationship Id="rId14" Type="http://schemas.openxmlformats.org/officeDocument/2006/relationships/image" Target="../media/image91.png"/><Relationship Id="rId15" Type="http://schemas.openxmlformats.org/officeDocument/2006/relationships/image" Target="../media/image92.png"/><Relationship Id="rId16" Type="http://schemas.openxmlformats.org/officeDocument/2006/relationships/image" Target="../media/image93.png"/><Relationship Id="rId17" Type="http://schemas.openxmlformats.org/officeDocument/2006/relationships/image" Target="../media/image9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3.xml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77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Relationship Id="rId10" Type="http://schemas.openxmlformats.org/officeDocument/2006/relationships/image" Target="../media/image11.png"/><Relationship Id="rId11" Type="http://schemas.openxmlformats.org/officeDocument/2006/relationships/image" Target="../media/image9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100.png"/><Relationship Id="rId7" Type="http://schemas.openxmlformats.org/officeDocument/2006/relationships/image" Target="../media/image101.png"/><Relationship Id="rId8" Type="http://schemas.openxmlformats.org/officeDocument/2006/relationships/image" Target="../media/image102.png"/><Relationship Id="rId9" Type="http://schemas.openxmlformats.org/officeDocument/2006/relationships/image" Target="../media/image103.png"/><Relationship Id="rId10" Type="http://schemas.openxmlformats.org/officeDocument/2006/relationships/image" Target="../media/image88.png"/><Relationship Id="rId11" Type="http://schemas.openxmlformats.org/officeDocument/2006/relationships/image" Target="../media/image87.png"/><Relationship Id="rId12" Type="http://schemas.openxmlformats.org/officeDocument/2006/relationships/image" Target="../media/image104.png"/><Relationship Id="rId13" Type="http://schemas.openxmlformats.org/officeDocument/2006/relationships/image" Target="../media/image105.png"/><Relationship Id="rId14" Type="http://schemas.openxmlformats.org/officeDocument/2006/relationships/image" Target="../media/image106.png"/><Relationship Id="rId15" Type="http://schemas.openxmlformats.org/officeDocument/2006/relationships/image" Target="../media/image107.png"/><Relationship Id="rId16" Type="http://schemas.openxmlformats.org/officeDocument/2006/relationships/image" Target="../media/image108.png"/><Relationship Id="rId17" Type="http://schemas.openxmlformats.org/officeDocument/2006/relationships/image" Target="../media/image109.png"/><Relationship Id="rId18" Type="http://schemas.openxmlformats.org/officeDocument/2006/relationships/image" Target="../media/image110.png"/><Relationship Id="rId19" Type="http://schemas.openxmlformats.org/officeDocument/2006/relationships/image" Target="../media/image1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image" Target="../media/image116.png"/><Relationship Id="rId9" Type="http://schemas.openxmlformats.org/officeDocument/2006/relationships/image" Target="../media/image117.png"/><Relationship Id="rId10" Type="http://schemas.openxmlformats.org/officeDocument/2006/relationships/image" Target="../media/image118.png"/><Relationship Id="rId11" Type="http://schemas.openxmlformats.org/officeDocument/2006/relationships/image" Target="../media/image119.png"/><Relationship Id="rId12" Type="http://schemas.openxmlformats.org/officeDocument/2006/relationships/image" Target="../media/image12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121.png"/><Relationship Id="rId16" Type="http://schemas.openxmlformats.org/officeDocument/2006/relationships/image" Target="../media/image122.png"/><Relationship Id="rId17" Type="http://schemas.openxmlformats.org/officeDocument/2006/relationships/image" Target="../media/image1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0" y="2038350"/>
            <a:ext cx="5715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29197" y="2857053"/>
            <a:ext cx="6933604" cy="561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320" b="0" i="0">
                <a:solidFill>
                  <a:srgbClr val="FFFFFF"/>
                </a:solidFill>
                <a:latin typeface="Microsoft YaHei"/>
              </a:rPr>
              <a:t>레이저 제초 로봇 사업계획서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71566" y="3771304"/>
            <a:ext cx="2950213" cy="5243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96" b="1" i="0">
                <a:solidFill>
                  <a:srgbClr val="4DA7FF"/>
                </a:solidFill>
                <a:latin typeface="Microsoft YaHei"/>
              </a:rPr>
              <a:t>레이저 </a:t>
            </a:r>
            <a:r>
              <a:rPr sz="1596" b="1" i="0">
                <a:solidFill>
                  <a:srgbClr val="4DA7FF"/>
                </a:solidFill>
                <a:latin typeface="Questrial"/>
              </a:rPr>
              <a:t>+ </a:t>
            </a:r>
            <a:r>
              <a:rPr sz="1596" b="1" i="0">
                <a:solidFill>
                  <a:srgbClr val="4DA7FF"/>
                </a:solidFill>
                <a:latin typeface="Microsoft YaHei"/>
              </a:rPr>
              <a:t>메카넘휠 </a:t>
            </a:r>
            <a:r>
              <a:rPr sz="1596" b="1" i="0">
                <a:solidFill>
                  <a:srgbClr val="4DA7FF"/>
                </a:solidFill>
                <a:latin typeface="Questrial"/>
              </a:rPr>
              <a:t>+ AI </a:t>
            </a:r>
            <a:r>
              <a:rPr sz="1596" b="1" i="0">
                <a:solidFill>
                  <a:srgbClr val="4DA7FF"/>
                </a:solidFill>
                <a:latin typeface="Microsoft YaHei"/>
              </a:rPr>
              <a:t>자율주행</a:t>
            </a:r>
            <a:r>
              <a:rPr sz="1596" b="0" i="0">
                <a:solidFill>
                  <a:srgbClr val="CBD5E1"/>
                </a:solidFill>
                <a:latin typeface="Microsoft YaHei"/>
              </a:rPr>
              <a:t>노지 잡초 제거 로봇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86821" y="6067425"/>
            <a:ext cx="1618357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예비창업패키지 지원 신청용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2745" y="6315075"/>
            <a:ext cx="646509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Questrial"/>
              </a:rPr>
              <a:t>2026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년 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2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102" y="333375"/>
            <a:ext cx="1219646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79" b="0" i="0">
                <a:solidFill>
                  <a:srgbClr val="FFFFFF"/>
                </a:solidFill>
                <a:latin typeface="Microsoft YaHei"/>
              </a:rPr>
              <a:t>사업 개요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771650"/>
            <a:ext cx="5791200" cy="428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2152650"/>
            <a:ext cx="4876800" cy="3371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1485900"/>
            <a:ext cx="4876800" cy="47148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86525" y="1738312"/>
            <a:ext cx="2527399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0" b="0" i="0">
                <a:solidFill>
                  <a:srgbClr val="FFFFFF"/>
                </a:solidFill>
                <a:latin typeface="Microsoft YaHei"/>
              </a:rPr>
              <a:t>혁신적 농업 자동화 솔루션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2333476"/>
            <a:ext cx="4224992" cy="3744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BD5E1"/>
                </a:solidFill>
                <a:latin typeface="Microsoft YaHei"/>
              </a:rPr>
              <a:t>레이저 제초 기술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로 화학 제초제 없이 친환경적으로 잡초의 생장점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을 열에너지로 파괴합니다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3048000"/>
            <a:ext cx="28575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24675" y="3063329"/>
            <a:ext cx="3904863" cy="3744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BD5E1"/>
                </a:solidFill>
                <a:latin typeface="Microsoft YaHei"/>
              </a:rPr>
              <a:t>메카넘휠 시스템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을 통해 좁은 작물 간격에서도 전방향 이동이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가능한 정밀 작업을 수행합니다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3771900"/>
            <a:ext cx="2286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67525" y="3793182"/>
            <a:ext cx="4080033" cy="3744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BD5E1"/>
                </a:solidFill>
                <a:latin typeface="Questrial"/>
              </a:rPr>
              <a:t>AI 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자율주행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기반으로 작물과 잡초를 실시간 구분하여 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24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시간 무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인 자동 작업이 가능합니다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25" y="4523035"/>
            <a:ext cx="4213383" cy="3744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BD5E1"/>
                </a:solidFill>
                <a:latin typeface="Microsoft YaHei"/>
              </a:rPr>
              <a:t>친환경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/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유기농 농가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를 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1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차 타겟으로 하여 제초제 저항성 문제를 근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본적으로 해결합니다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5334000"/>
            <a:ext cx="4400550" cy="6286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29400" y="5462438"/>
            <a:ext cx="4089350" cy="361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4DA7FF"/>
                </a:solidFill>
                <a:latin typeface="Microsoft YaHei"/>
              </a:rPr>
              <a:t>핵심 가치</a:t>
            </a:r>
            <a:r>
              <a:rPr sz="1200" b="1" i="1">
                <a:solidFill>
                  <a:srgbClr val="4DA7FF"/>
                </a:solidFill>
                <a:latin typeface="Times New Roman"/>
              </a:rPr>
              <a:t>:</a:t>
            </a:r>
            <a:r>
              <a:rPr sz="1200" b="0" i="1">
                <a:solidFill>
                  <a:srgbClr val="E0F2FE"/>
                </a:solidFill>
                <a:latin typeface="Times New Roman"/>
              </a:rPr>
              <a:t> </a:t>
            </a:r>
            <a:r>
              <a:rPr sz="1200" b="0" i="1">
                <a:solidFill>
                  <a:srgbClr val="E0F2FE"/>
                </a:solidFill>
                <a:latin typeface="Microsoft YaHei"/>
              </a:rPr>
              <a:t>농업 고령화와 노동력 부족 문제를 해결하는 동시</a:t>
            </a:r>
            <a:r>
              <a:rPr sz="1200" b="0" i="1">
                <a:solidFill>
                  <a:srgbClr val="E0F2FE"/>
                </a:solidFill>
                <a:latin typeface="Microsoft YaHei"/>
              </a:rPr>
              <a:t>에 친환경 농업 확산에 기여하는 혁신 기술입니다</a:t>
            </a:r>
            <a:r>
              <a:rPr sz="1200" b="0" i="1">
                <a:solidFill>
                  <a:srgbClr val="E0F2FE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19128" y="342900"/>
            <a:ext cx="3753742" cy="3905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Microsoft YaHei"/>
              </a:rPr>
              <a:t>시장 현황 및 성장 동력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2009774"/>
          <a:ext cx="5410200" cy="37719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600" y="1438275"/>
            <a:ext cx="5410200" cy="4924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38925" y="1808410"/>
            <a:ext cx="2037010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FFFFFF"/>
                </a:solidFill>
                <a:latin typeface="Microsoft YaHei"/>
              </a:rPr>
              <a:t>글로벌 시장 성장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2505075"/>
            <a:ext cx="3429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96125" y="2513260"/>
            <a:ext cx="3914090" cy="142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BD5E1"/>
                </a:solidFill>
                <a:latin typeface="Microsoft YaHei"/>
              </a:rPr>
              <a:t>글로벌 스마트팜 시장은 </a:t>
            </a:r>
            <a:r>
              <a:rPr sz="1139" b="1" i="0">
                <a:solidFill>
                  <a:srgbClr val="CBD5E1"/>
                </a:solidFill>
                <a:latin typeface="Questrial"/>
              </a:rPr>
              <a:t>2026</a:t>
            </a:r>
            <a:r>
              <a:rPr sz="1139" b="1" i="0">
                <a:solidFill>
                  <a:srgbClr val="CBD5E1"/>
                </a:solidFill>
                <a:latin typeface="Microsoft YaHei"/>
              </a:rPr>
              <a:t>년 </a:t>
            </a:r>
            <a:r>
              <a:rPr sz="1139" b="1" i="0">
                <a:solidFill>
                  <a:srgbClr val="CBD5E1"/>
                </a:solidFill>
                <a:latin typeface="Questrial"/>
              </a:rPr>
              <a:t>341</a:t>
            </a:r>
            <a:r>
              <a:rPr sz="1139" b="1" i="0">
                <a:solidFill>
                  <a:srgbClr val="CBD5E1"/>
                </a:solidFill>
                <a:latin typeface="Microsoft YaHei"/>
              </a:rPr>
              <a:t>억 달러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규모로 성장 전망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925" y="3143250"/>
            <a:ext cx="3429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96125" y="3153221"/>
            <a:ext cx="4301787" cy="3744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BD5E1"/>
                </a:solidFill>
                <a:latin typeface="Microsoft YaHei"/>
              </a:rPr>
              <a:t>농업용 로봇 시장은 </a:t>
            </a:r>
            <a:r>
              <a:rPr sz="1139" b="1" i="0">
                <a:solidFill>
                  <a:srgbClr val="CBD5E1"/>
                </a:solidFill>
                <a:latin typeface="Microsoft YaHei"/>
              </a:rPr>
              <a:t>연평균 </a:t>
            </a:r>
            <a:r>
              <a:rPr sz="1139" b="1" i="0">
                <a:solidFill>
                  <a:srgbClr val="CBD5E1"/>
                </a:solidFill>
                <a:latin typeface="Questrial"/>
              </a:rPr>
              <a:t>22.5% </a:t>
            </a:r>
            <a:r>
              <a:rPr sz="1139" b="1" i="0">
                <a:solidFill>
                  <a:srgbClr val="CBD5E1"/>
                </a:solidFill>
                <a:latin typeface="Microsoft YaHei"/>
              </a:rPr>
              <a:t>성장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하여 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2036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년 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1,880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억 달러 예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상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925" y="3990975"/>
            <a:ext cx="34290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96125" y="3997374"/>
            <a:ext cx="3529816" cy="142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BD5E1"/>
                </a:solidFill>
                <a:latin typeface="Microsoft YaHei"/>
              </a:rPr>
              <a:t>국내 스마트농업 시장은 </a:t>
            </a:r>
            <a:r>
              <a:rPr sz="1139" b="1" i="0">
                <a:solidFill>
                  <a:srgbClr val="CBD5E1"/>
                </a:solidFill>
                <a:latin typeface="Questrial"/>
              </a:rPr>
              <a:t>2025</a:t>
            </a:r>
            <a:r>
              <a:rPr sz="1139" b="1" i="0">
                <a:solidFill>
                  <a:srgbClr val="CBD5E1"/>
                </a:solidFill>
                <a:latin typeface="Microsoft YaHei"/>
              </a:rPr>
              <a:t>년 </a:t>
            </a:r>
            <a:r>
              <a:rPr sz="1139" b="1" i="0">
                <a:solidFill>
                  <a:srgbClr val="CBD5E1"/>
                </a:solidFill>
                <a:latin typeface="Questrial"/>
              </a:rPr>
              <a:t>6,000</a:t>
            </a:r>
            <a:r>
              <a:rPr sz="1139" b="1" i="0">
                <a:solidFill>
                  <a:srgbClr val="CBD5E1"/>
                </a:solidFill>
                <a:latin typeface="Microsoft YaHei"/>
              </a:rPr>
              <a:t>억원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규모로 확대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4629150"/>
            <a:ext cx="352425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096125" y="4637335"/>
            <a:ext cx="2980342" cy="142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BD5E1"/>
                </a:solidFill>
                <a:latin typeface="Microsoft YaHei"/>
              </a:rPr>
              <a:t>친환경 농산물 시장은 </a:t>
            </a:r>
            <a:r>
              <a:rPr sz="1139" b="1" i="0">
                <a:solidFill>
                  <a:srgbClr val="CBD5E1"/>
                </a:solidFill>
                <a:latin typeface="Microsoft YaHei"/>
              </a:rPr>
              <a:t>연 </a:t>
            </a:r>
            <a:r>
              <a:rPr sz="1139" b="1" i="0">
                <a:solidFill>
                  <a:srgbClr val="CBD5E1"/>
                </a:solidFill>
                <a:latin typeface="Questrial"/>
              </a:rPr>
              <a:t>6% </a:t>
            </a:r>
            <a:r>
              <a:rPr sz="1139" b="1" i="0">
                <a:solidFill>
                  <a:srgbClr val="CBD5E1"/>
                </a:solidFill>
                <a:latin typeface="Microsoft YaHei"/>
              </a:rPr>
              <a:t>이상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지속 성장 중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8925" y="5276850"/>
            <a:ext cx="4781550" cy="7715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00850" y="5477321"/>
            <a:ext cx="4483268" cy="3623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1">
                <a:solidFill>
                  <a:srgbClr val="E0F2FE"/>
                </a:solidFill>
                <a:latin typeface="Microsoft YaHei"/>
              </a:rPr>
              <a:t>핵심 동력</a:t>
            </a:r>
            <a:r>
              <a:rPr sz="1080" b="1" i="1">
                <a:solidFill>
                  <a:srgbClr val="E0F2FE"/>
                </a:solidFill>
                <a:latin typeface="Questrial"/>
              </a:rPr>
              <a:t>:</a:t>
            </a:r>
            <a:r>
              <a:rPr sz="1080" b="0" i="1">
                <a:solidFill>
                  <a:srgbClr val="E0F2FE"/>
                </a:solidFill>
                <a:latin typeface="Questrial"/>
              </a:rPr>
              <a:t> </a:t>
            </a:r>
            <a:r>
              <a:rPr sz="1080" b="0" i="1">
                <a:solidFill>
                  <a:srgbClr val="E0F2FE"/>
                </a:solidFill>
                <a:latin typeface="Microsoft YaHei"/>
              </a:rPr>
              <a:t>농업 고령화</a:t>
            </a:r>
            <a:r>
              <a:rPr sz="1080" b="0" i="1">
                <a:solidFill>
                  <a:srgbClr val="E0F2FE"/>
                </a:solidFill>
                <a:latin typeface="Questrial"/>
              </a:rPr>
              <a:t>, </a:t>
            </a:r>
            <a:r>
              <a:rPr sz="1080" b="0" i="1">
                <a:solidFill>
                  <a:srgbClr val="E0F2FE"/>
                </a:solidFill>
                <a:latin typeface="Microsoft YaHei"/>
              </a:rPr>
              <a:t>노동력 부족</a:t>
            </a:r>
            <a:r>
              <a:rPr sz="1080" b="0" i="1">
                <a:solidFill>
                  <a:srgbClr val="E0F2FE"/>
                </a:solidFill>
                <a:latin typeface="Questrial"/>
              </a:rPr>
              <a:t>, </a:t>
            </a:r>
            <a:r>
              <a:rPr sz="1080" b="0" i="1">
                <a:solidFill>
                  <a:srgbClr val="E0F2FE"/>
                </a:solidFill>
                <a:latin typeface="Microsoft YaHei"/>
              </a:rPr>
              <a:t>친환경 농업 확대</a:t>
            </a:r>
            <a:r>
              <a:rPr sz="1080" b="0" i="1">
                <a:solidFill>
                  <a:srgbClr val="E0F2FE"/>
                </a:solidFill>
                <a:latin typeface="Questrial"/>
              </a:rPr>
              <a:t>, </a:t>
            </a:r>
            <a:r>
              <a:rPr sz="1080" b="0" i="1">
                <a:solidFill>
                  <a:srgbClr val="E0F2FE"/>
                </a:solidFill>
                <a:latin typeface="Microsoft YaHei"/>
              </a:rPr>
              <a:t>정부 스마트농업 정</a:t>
            </a:r>
            <a:r>
              <a:rPr sz="1080" b="0" i="1">
                <a:solidFill>
                  <a:srgbClr val="E0F2FE"/>
                </a:solidFill>
                <a:latin typeface="Microsoft YaHei"/>
              </a:rPr>
              <a:t>책 지원이 시장 성장을 가속화하고 있습니다</a:t>
            </a:r>
            <a:r>
              <a:rPr sz="1080" b="0" i="1">
                <a:solidFill>
                  <a:srgbClr val="E0F2FE"/>
                </a:solidFill>
                <a:latin typeface="Quest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14639" y="247650"/>
            <a:ext cx="1762720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FFFFFF"/>
                </a:solidFill>
                <a:latin typeface="Microsoft YaHei"/>
              </a:rPr>
              <a:t>핵심 기술 구성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905000"/>
            <a:ext cx="3657600" cy="377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53778" y="2144762"/>
            <a:ext cx="1111894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0" i="0">
                <a:solidFill>
                  <a:srgbClr val="4DA7FF"/>
                </a:solidFill>
                <a:latin typeface="Microsoft YaHei"/>
              </a:rPr>
              <a:t>레이저 제초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2139" y="2670423"/>
            <a:ext cx="1280368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고출력 레이저 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139" y="2938313"/>
            <a:ext cx="2931580" cy="3289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잡초의 생장점을 열에너지로 파괴하여 </a:t>
            </a:r>
            <a:r>
              <a:rPr sz="1026" b="0" i="0">
                <a:solidFill>
                  <a:srgbClr val="4DA7FF"/>
                </a:solidFill>
                <a:latin typeface="Questrial"/>
              </a:rPr>
              <a:t>99% </a:t>
            </a:r>
            <a:r>
              <a:rPr sz="1026" b="0" i="0">
                <a:solidFill>
                  <a:srgbClr val="4DA7FF"/>
                </a:solidFill>
                <a:latin typeface="Microsoft YaHei"/>
              </a:rPr>
              <a:t>제거율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달성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3581400"/>
            <a:ext cx="26670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22139" y="3594199"/>
            <a:ext cx="9441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친환경적 제초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139" y="3862089"/>
            <a:ext cx="2864012" cy="3289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화학물질 불사용으로 토양 건강 유지 및 </a:t>
            </a:r>
            <a:r>
              <a:rPr sz="1026" b="0" i="0">
                <a:solidFill>
                  <a:srgbClr val="4DA7FF"/>
                </a:solidFill>
                <a:latin typeface="Microsoft YaHei"/>
              </a:rPr>
              <a:t>저항성 문</a:t>
            </a:r>
            <a:r>
              <a:rPr sz="1026" b="0" i="0">
                <a:solidFill>
                  <a:srgbClr val="4DA7FF"/>
                </a:solidFill>
                <a:latin typeface="Microsoft YaHei"/>
              </a:rPr>
              <a:t>제 해결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495800"/>
            <a:ext cx="257175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2139" y="4517975"/>
            <a:ext cx="792212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선택적 제거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139" y="4785866"/>
            <a:ext cx="2798712" cy="1333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토양 교란 없이 잡초만 정밀 타겟팅하여 작물 보호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905000"/>
            <a:ext cx="3657600" cy="3771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69458" y="2144762"/>
            <a:ext cx="853082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0" i="0">
                <a:solidFill>
                  <a:srgbClr val="4DA7FF"/>
                </a:solidFill>
                <a:latin typeface="Microsoft YaHei"/>
              </a:rPr>
              <a:t>메카넘휠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7700" y="2647950"/>
            <a:ext cx="257175" cy="2190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08339" y="2670423"/>
            <a:ext cx="792212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전방향 이동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8339" y="2938313"/>
            <a:ext cx="2862673" cy="3289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조향장치 없이 </a:t>
            </a:r>
            <a:r>
              <a:rPr sz="1026" b="0" i="0">
                <a:solidFill>
                  <a:srgbClr val="4DA7FF"/>
                </a:solidFill>
                <a:latin typeface="Microsoft YaHei"/>
              </a:rPr>
              <a:t>측면·대각선 이동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가능한 특수 바퀴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시스템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7700" y="3581400"/>
            <a:ext cx="257175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08339" y="3594199"/>
            <a:ext cx="640258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정밀 작업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8339" y="3862089"/>
            <a:ext cx="2891694" cy="3289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좁은 작물 간격에서 회전 없이 </a:t>
            </a:r>
            <a:r>
              <a:rPr sz="1026" b="0" i="0">
                <a:solidFill>
                  <a:srgbClr val="4DA7FF"/>
                </a:solidFill>
                <a:latin typeface="Microsoft YaHei"/>
              </a:rPr>
              <a:t>정밀한 위치 제어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수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행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7700" y="4505325"/>
            <a:ext cx="257175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808339" y="4517975"/>
            <a:ext cx="792212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구조 단순화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8339" y="4785866"/>
            <a:ext cx="2966406" cy="3289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복잡한 조향장치 불필요로 구조 단순화 및 유지보수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용이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1905000"/>
            <a:ext cx="3657600" cy="37719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37042" y="2144762"/>
            <a:ext cx="1090314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0" i="0">
                <a:solidFill>
                  <a:srgbClr val="4DA7FF"/>
                </a:solidFill>
                <a:latin typeface="Questrial"/>
              </a:rPr>
              <a:t>AI </a:t>
            </a:r>
            <a:r>
              <a:rPr sz="1679" b="0" i="0">
                <a:solidFill>
                  <a:srgbClr val="4DA7FF"/>
                </a:solidFill>
                <a:latin typeface="Microsoft YaHei"/>
              </a:rPr>
              <a:t>자율주행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4375" y="2657475"/>
            <a:ext cx="266700" cy="2095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694539" y="2670423"/>
            <a:ext cx="792212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컴퓨터 비전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4539" y="2938313"/>
            <a:ext cx="2782008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딥러닝 기반 </a:t>
            </a:r>
            <a:r>
              <a:rPr sz="1026" b="0" i="0">
                <a:solidFill>
                  <a:srgbClr val="4DA7FF"/>
                </a:solidFill>
                <a:latin typeface="Microsoft YaHei"/>
              </a:rPr>
              <a:t>작물</a:t>
            </a:r>
            <a:r>
              <a:rPr sz="1026" b="0" i="0">
                <a:solidFill>
                  <a:srgbClr val="4DA7FF"/>
                </a:solidFill>
                <a:latin typeface="Questrial"/>
              </a:rPr>
              <a:t>/</a:t>
            </a:r>
            <a:r>
              <a:rPr sz="1026" b="0" i="0">
                <a:solidFill>
                  <a:srgbClr val="4DA7FF"/>
                </a:solidFill>
                <a:latin typeface="Microsoft YaHei"/>
              </a:rPr>
              <a:t>잡초 구분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및 실시간 객체 인식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34375" y="3371850"/>
            <a:ext cx="266700" cy="21907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94539" y="3398639"/>
            <a:ext cx="640258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정밀 항법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94539" y="3666529"/>
            <a:ext cx="2936789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Questrial"/>
              </a:rPr>
              <a:t>RTK-GPS, LiDAR,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카메라 융합으로 </a:t>
            </a:r>
            <a:r>
              <a:rPr sz="1026" b="0" i="0">
                <a:solidFill>
                  <a:srgbClr val="4DA7FF"/>
                </a:solidFill>
                <a:latin typeface="Questrial"/>
              </a:rPr>
              <a:t>cm </a:t>
            </a:r>
            <a:r>
              <a:rPr sz="1026" b="0" i="0">
                <a:solidFill>
                  <a:srgbClr val="4DA7FF"/>
                </a:solidFill>
                <a:latin typeface="Microsoft YaHei"/>
              </a:rPr>
              <a:t>단위 정밀도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43900" y="4105275"/>
            <a:ext cx="257175" cy="21907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94539" y="4126855"/>
            <a:ext cx="792212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무인 자동화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94539" y="4394745"/>
            <a:ext cx="2904791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경로 계획 및 장애물 회피로 </a:t>
            </a:r>
            <a:r>
              <a:rPr sz="1026" b="0" i="0">
                <a:solidFill>
                  <a:srgbClr val="4DA7FF"/>
                </a:solidFill>
                <a:latin typeface="Questrial"/>
              </a:rPr>
              <a:t>24</a:t>
            </a:r>
            <a:r>
              <a:rPr sz="1026" b="0" i="0">
                <a:solidFill>
                  <a:srgbClr val="4DA7FF"/>
                </a:solidFill>
                <a:latin typeface="Microsoft YaHei"/>
              </a:rPr>
              <a:t>시간 자동 작업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07569" y="247650"/>
            <a:ext cx="2976711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FFFFFF"/>
                </a:solidFill>
                <a:latin typeface="Microsoft YaHei"/>
              </a:rPr>
              <a:t>경쟁 우위 및 차별화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8792" y="1942951"/>
            <a:ext cx="963215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DA7FF"/>
                </a:solidFill>
                <a:latin typeface="Microsoft YaHei"/>
              </a:rPr>
              <a:t>경쟁 우위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62200"/>
            <a:ext cx="5486400" cy="3314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" y="2628900"/>
            <a:ext cx="266700" cy="219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8339" y="2649587"/>
            <a:ext cx="1800969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국내 최초 레이저 제초 로봇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8339" y="2902297"/>
            <a:ext cx="3021919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>
                <a:solidFill>
                  <a:srgbClr val="4DA7FF"/>
                </a:solidFill>
                <a:latin typeface="Microsoft YaHei"/>
              </a:rPr>
              <a:t>선점 효과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로 시장 주도권 확보 및 브랜드 인지도 구축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" y="3352800"/>
            <a:ext cx="25717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8339" y="3362622"/>
            <a:ext cx="1297483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한국형 작물 특화 </a:t>
            </a:r>
            <a:r>
              <a:rPr sz="1197" b="0" i="0">
                <a:solidFill>
                  <a:srgbClr val="E0F2FE"/>
                </a:solidFill>
                <a:latin typeface="Questrial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8339" y="3615332"/>
            <a:ext cx="3497722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배추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,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고추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,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마늘 등 </a:t>
            </a:r>
            <a:r>
              <a:rPr sz="1026" b="1" i="0">
                <a:solidFill>
                  <a:srgbClr val="10B981"/>
                </a:solidFill>
                <a:latin typeface="Microsoft YaHei"/>
              </a:rPr>
              <a:t>국내 주요 노지 작물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에 최적화된 데이터셋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4067175"/>
            <a:ext cx="25717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8339" y="4075658"/>
            <a:ext cx="9441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현지화 서비스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8339" y="4328368"/>
            <a:ext cx="2976080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국내 밀착 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A/S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및 교육 서비스로 </a:t>
            </a:r>
            <a:r>
              <a:rPr sz="1026" b="1" i="0">
                <a:solidFill>
                  <a:srgbClr val="4DA7FF"/>
                </a:solidFill>
                <a:latin typeface="Microsoft YaHei"/>
              </a:rPr>
              <a:t>수입품 대비 차별화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4772025"/>
            <a:ext cx="257175" cy="2190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8339" y="4788693"/>
            <a:ext cx="1128414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유연한 사업 모델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8339" y="5041403"/>
            <a:ext cx="2821745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Questrial"/>
              </a:rPr>
              <a:t>RaaS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모델로 </a:t>
            </a:r>
            <a:r>
              <a:rPr sz="1026" b="1" i="0">
                <a:solidFill>
                  <a:srgbClr val="10B981"/>
                </a:solidFill>
                <a:latin typeface="Microsoft YaHei"/>
              </a:rPr>
              <a:t>초기 비용 부담 해결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및 접근성 향상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5692" y="1942951"/>
            <a:ext cx="1191815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DA7FF"/>
                </a:solidFill>
                <a:latin typeface="Microsoft YaHei"/>
              </a:rPr>
              <a:t>차별화 전략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362200"/>
            <a:ext cx="5486400" cy="3314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2638425"/>
            <a:ext cx="257175" cy="2095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89539" y="2649587"/>
            <a:ext cx="1304478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소형화</a:t>
            </a:r>
            <a:r>
              <a:rPr sz="1197" b="0" i="0">
                <a:solidFill>
                  <a:srgbClr val="E0F2FE"/>
                </a:solidFill>
                <a:latin typeface="Questrial"/>
              </a:rPr>
              <a:t>/</a:t>
            </a:r>
            <a:r>
              <a:rPr sz="1197" b="0" i="0">
                <a:solidFill>
                  <a:srgbClr val="E0F2FE"/>
                </a:solidFill>
                <a:latin typeface="Microsoft YaHei"/>
              </a:rPr>
              <a:t>경량화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9539" y="2902297"/>
            <a:ext cx="2994386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대형 농기계 대비 </a:t>
            </a:r>
            <a:r>
              <a:rPr sz="1026" b="1" i="0">
                <a:solidFill>
                  <a:srgbClr val="4DA7FF"/>
                </a:solidFill>
                <a:latin typeface="Microsoft YaHei"/>
              </a:rPr>
              <a:t>소규모 농가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에 적합한 크기와 가격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3352800"/>
            <a:ext cx="266700" cy="2095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789539" y="3362622"/>
            <a:ext cx="1128414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친환경 인증 연계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9539" y="3615332"/>
            <a:ext cx="2596270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>
                <a:solidFill>
                  <a:srgbClr val="10B981"/>
                </a:solidFill>
                <a:latin typeface="Microsoft YaHei"/>
              </a:rPr>
              <a:t>유기농</a:t>
            </a:r>
            <a:r>
              <a:rPr sz="1026" b="1" i="0">
                <a:solidFill>
                  <a:srgbClr val="10B981"/>
                </a:solidFill>
                <a:latin typeface="Questrial"/>
              </a:rPr>
              <a:t>/</a:t>
            </a:r>
            <a:r>
              <a:rPr sz="1026" b="1" i="0">
                <a:solidFill>
                  <a:srgbClr val="10B981"/>
                </a:solidFill>
                <a:latin typeface="Microsoft YaHei"/>
              </a:rPr>
              <a:t>친환경 인증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농가 대상 맞춤형 솔루션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4067175"/>
            <a:ext cx="257175" cy="2095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789539" y="4075658"/>
            <a:ext cx="1248072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농업기술센터 협력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9539" y="4328368"/>
            <a:ext cx="2733936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정부 시범사업 참여로 </a:t>
            </a:r>
            <a:r>
              <a:rPr sz="1026" b="1" i="0">
                <a:solidFill>
                  <a:srgbClr val="4DA7FF"/>
                </a:solidFill>
                <a:latin typeface="Microsoft YaHei"/>
              </a:rPr>
              <a:t>기술 검증 및 신뢰성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확보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4772025"/>
            <a:ext cx="257175" cy="2190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89539" y="4788693"/>
            <a:ext cx="1128414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동남아 수출 전략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9539" y="5041403"/>
            <a:ext cx="2604456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베트남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,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태국 등 </a:t>
            </a:r>
            <a:r>
              <a:rPr sz="1026" b="1" i="0">
                <a:solidFill>
                  <a:srgbClr val="F59E0B"/>
                </a:solidFill>
                <a:latin typeface="Microsoft YaHei"/>
              </a:rPr>
              <a:t>신흥시장 진출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로 글로벌 확장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44789" y="247650"/>
            <a:ext cx="2702421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0" i="0">
                <a:solidFill>
                  <a:srgbClr val="FFFFFF"/>
                </a:solidFill>
                <a:latin typeface="Microsoft YaHei"/>
              </a:rPr>
              <a:t>사업 모델 및 수익 구조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1581150"/>
            <a:ext cx="5791200" cy="45815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962150"/>
            <a:ext cx="4876800" cy="3667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1562100"/>
            <a:ext cx="5486400" cy="5219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35885" y="1763762"/>
            <a:ext cx="1527423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0" i="0">
                <a:solidFill>
                  <a:srgbClr val="FFFFFF"/>
                </a:solidFill>
                <a:latin typeface="Microsoft YaHei"/>
              </a:rPr>
              <a:t>다양한 수익 모델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4100" y="2190750"/>
            <a:ext cx="5105400" cy="628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7925" y="2286000"/>
            <a:ext cx="25717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04694" y="2304454"/>
            <a:ext cx="976461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로봇 직접 판매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694" y="2562820"/>
            <a:ext cx="2951178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CBD5E1"/>
                </a:solidFill>
                <a:latin typeface="Microsoft YaHei"/>
              </a:rPr>
              <a:t>소형 레이저 제초 로봇 직접 판매 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(</a:t>
            </a:r>
            <a:r>
              <a:rPr sz="969" b="1" i="0">
                <a:solidFill>
                  <a:srgbClr val="10B981"/>
                </a:solidFill>
                <a:latin typeface="Questrial"/>
              </a:rPr>
              <a:t> 5,000~8,000</a:t>
            </a:r>
            <a:r>
              <a:rPr sz="969" b="1" i="0">
                <a:solidFill>
                  <a:srgbClr val="10B981"/>
                </a:solidFill>
                <a:latin typeface="Microsoft YaHei"/>
              </a:rPr>
              <a:t>만원</a:t>
            </a:r>
            <a:r>
              <a:rPr sz="969" b="1" i="0">
                <a:solidFill>
                  <a:srgbClr val="10B981"/>
                </a:solidFill>
                <a:latin typeface="Questrial"/>
              </a:rPr>
              <a:t>/</a:t>
            </a:r>
            <a:r>
              <a:rPr sz="969" b="1" i="0">
                <a:solidFill>
                  <a:srgbClr val="10B981"/>
                </a:solidFill>
                <a:latin typeface="Microsoft YaHei"/>
              </a:rPr>
              <a:t>대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4100" y="2933700"/>
            <a:ext cx="5105400" cy="6286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7925" y="3028950"/>
            <a:ext cx="257175" cy="219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04694" y="3052018"/>
            <a:ext cx="1000571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렌탈</a:t>
            </a:r>
            <a:r>
              <a:rPr sz="1197" b="0" i="0">
                <a:solidFill>
                  <a:srgbClr val="E0F2FE"/>
                </a:solidFill>
                <a:latin typeface="Questrial"/>
              </a:rPr>
              <a:t>/</a:t>
            </a:r>
            <a:r>
              <a:rPr sz="1197" b="0" i="0">
                <a:solidFill>
                  <a:srgbClr val="E0F2FE"/>
                </a:solidFill>
                <a:latin typeface="Microsoft YaHei"/>
              </a:rPr>
              <a:t>리스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4694" y="3310383"/>
            <a:ext cx="2347382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CBD5E1"/>
                </a:solidFill>
                <a:latin typeface="Microsoft YaHei"/>
              </a:rPr>
              <a:t>월 단위 장기 렌탈 서비스 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(</a:t>
            </a:r>
            <a:r>
              <a:rPr sz="969" b="1" i="0">
                <a:solidFill>
                  <a:srgbClr val="10B981"/>
                </a:solidFill>
                <a:latin typeface="Microsoft YaHei"/>
              </a:rPr>
              <a:t>월 </a:t>
            </a:r>
            <a:r>
              <a:rPr sz="969" b="1" i="0">
                <a:solidFill>
                  <a:srgbClr val="10B981"/>
                </a:solidFill>
                <a:latin typeface="Questrial"/>
              </a:rPr>
              <a:t>150~200</a:t>
            </a:r>
            <a:r>
              <a:rPr sz="969" b="1" i="0">
                <a:solidFill>
                  <a:srgbClr val="10B981"/>
                </a:solidFill>
                <a:latin typeface="Microsoft YaHei"/>
              </a:rPr>
              <a:t>만원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4100" y="3686175"/>
            <a:ext cx="5105400" cy="628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7925" y="3790950"/>
            <a:ext cx="257175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04694" y="3799582"/>
            <a:ext cx="862458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Questrial"/>
              </a:rPr>
              <a:t>RaaS </a:t>
            </a:r>
            <a:r>
              <a:rPr sz="1197" b="0" i="0">
                <a:solidFill>
                  <a:srgbClr val="E0F2FE"/>
                </a:solidFill>
                <a:latin typeface="Microsoft YaHei"/>
              </a:rPr>
              <a:t>서비스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4694" y="4057947"/>
            <a:ext cx="2393668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CBD5E1"/>
                </a:solidFill>
                <a:latin typeface="Microsoft YaHei"/>
              </a:rPr>
              <a:t>면적당 제초 서비스 제공 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(</a:t>
            </a:r>
            <a:r>
              <a:rPr sz="969" b="1" i="0">
                <a:solidFill>
                  <a:srgbClr val="10B981"/>
                </a:solidFill>
                <a:latin typeface="Questrial"/>
              </a:rPr>
              <a:t> 30~50</a:t>
            </a:r>
            <a:r>
              <a:rPr sz="969" b="1" i="0">
                <a:solidFill>
                  <a:srgbClr val="10B981"/>
                </a:solidFill>
                <a:latin typeface="Microsoft YaHei"/>
              </a:rPr>
              <a:t>만원</a:t>
            </a:r>
            <a:r>
              <a:rPr sz="969" b="1" i="0">
                <a:solidFill>
                  <a:srgbClr val="10B981"/>
                </a:solidFill>
                <a:latin typeface="Questrial"/>
              </a:rPr>
              <a:t>/ha/</a:t>
            </a:r>
            <a:r>
              <a:rPr sz="969" b="1" i="0">
                <a:solidFill>
                  <a:srgbClr val="10B981"/>
                </a:solidFill>
                <a:latin typeface="Microsoft YaHei"/>
              </a:rPr>
              <a:t>회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)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4100" y="4429125"/>
            <a:ext cx="5105400" cy="628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7925" y="4524375"/>
            <a:ext cx="257175" cy="2190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04694" y="4547145"/>
            <a:ext cx="1120080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E0F2FE"/>
                </a:solidFill>
                <a:latin typeface="Microsoft YaHei"/>
              </a:rPr>
              <a:t>유지보수</a:t>
            </a:r>
            <a:r>
              <a:rPr sz="1197" b="0" i="0">
                <a:solidFill>
                  <a:srgbClr val="E0F2FE"/>
                </a:solidFill>
                <a:latin typeface="Questrial"/>
              </a:rPr>
              <a:t>/</a:t>
            </a:r>
            <a:r>
              <a:rPr sz="1197" b="0" i="0">
                <a:solidFill>
                  <a:srgbClr val="E0F2FE"/>
                </a:solidFill>
                <a:latin typeface="Microsoft YaHei"/>
              </a:rPr>
              <a:t>소모품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4694" y="4805511"/>
            <a:ext cx="3137213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CBD5E1"/>
                </a:solidFill>
                <a:latin typeface="Microsoft YaHei"/>
              </a:rPr>
              <a:t>연간 유지보수 계약 및 레이저 모듈 교체 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(</a:t>
            </a:r>
            <a:r>
              <a:rPr sz="969" b="1" i="0">
                <a:solidFill>
                  <a:srgbClr val="10B981"/>
                </a:solidFill>
                <a:latin typeface="Microsoft YaHei"/>
              </a:rPr>
              <a:t>연 </a:t>
            </a:r>
            <a:r>
              <a:rPr sz="969" b="1" i="0">
                <a:solidFill>
                  <a:srgbClr val="10B981"/>
                </a:solidFill>
                <a:latin typeface="Questrial"/>
              </a:rPr>
              <a:t>500~800</a:t>
            </a:r>
            <a:r>
              <a:rPr sz="969" b="1" i="0">
                <a:solidFill>
                  <a:srgbClr val="10B981"/>
                </a:solidFill>
                <a:latin typeface="Microsoft YaHei"/>
              </a:rPr>
              <a:t>만원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)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34100" y="5295900"/>
            <a:ext cx="5105400" cy="12954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67301" y="5450978"/>
            <a:ext cx="792212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97" b="0" i="0">
                <a:solidFill>
                  <a:srgbClr val="10B981"/>
                </a:solidFill>
                <a:latin typeface="Microsoft YaHei"/>
              </a:rPr>
              <a:t>목표 고객층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7301" y="5732859"/>
            <a:ext cx="2743563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4DA7FF"/>
                </a:solidFill>
                <a:latin typeface="Questrial"/>
              </a:rPr>
              <a:t>1</a:t>
            </a:r>
            <a:r>
              <a:rPr sz="969" b="1" i="0">
                <a:solidFill>
                  <a:srgbClr val="4DA7FF"/>
                </a:solidFill>
                <a:latin typeface="Microsoft YaHei"/>
              </a:rPr>
              <a:t>차</a:t>
            </a:r>
            <a:r>
              <a:rPr sz="969" b="1" i="0">
                <a:solidFill>
                  <a:srgbClr val="4DA7FF"/>
                </a:solidFill>
                <a:latin typeface="Questrial"/>
              </a:rPr>
              <a:t>: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969" b="0" i="0">
                <a:solidFill>
                  <a:srgbClr val="CBD5E1"/>
                </a:solidFill>
                <a:latin typeface="Microsoft YaHei"/>
              </a:rPr>
              <a:t>친환경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/</a:t>
            </a:r>
            <a:r>
              <a:rPr sz="969" b="0" i="0">
                <a:solidFill>
                  <a:srgbClr val="CBD5E1"/>
                </a:solidFill>
                <a:latin typeface="Microsoft YaHei"/>
              </a:rPr>
              <a:t>유기농 인증 농가 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(</a:t>
            </a:r>
            <a:r>
              <a:rPr sz="969" b="0" i="0">
                <a:solidFill>
                  <a:srgbClr val="CBD5E1"/>
                </a:solidFill>
                <a:latin typeface="Microsoft YaHei"/>
              </a:rPr>
              <a:t>재배면적 약 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8</a:t>
            </a:r>
            <a:r>
              <a:rPr sz="969" b="0" i="0">
                <a:solidFill>
                  <a:srgbClr val="CBD5E1"/>
                </a:solidFill>
                <a:latin typeface="Microsoft YaHei"/>
              </a:rPr>
              <a:t>만 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ha)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7301" y="5978276"/>
            <a:ext cx="2571964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4DA7FF"/>
                </a:solidFill>
                <a:latin typeface="Questrial"/>
              </a:rPr>
              <a:t>2</a:t>
            </a:r>
            <a:r>
              <a:rPr sz="969" b="1" i="0">
                <a:solidFill>
                  <a:srgbClr val="4DA7FF"/>
                </a:solidFill>
                <a:latin typeface="Microsoft YaHei"/>
              </a:rPr>
              <a:t>차</a:t>
            </a:r>
            <a:r>
              <a:rPr sz="969" b="1" i="0">
                <a:solidFill>
                  <a:srgbClr val="4DA7FF"/>
                </a:solidFill>
                <a:latin typeface="Questrial"/>
              </a:rPr>
              <a:t>: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969" b="0" i="0">
                <a:solidFill>
                  <a:srgbClr val="CBD5E1"/>
                </a:solidFill>
                <a:latin typeface="Microsoft YaHei"/>
              </a:rPr>
              <a:t>대규모 노지 농업 법인 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(</a:t>
            </a:r>
            <a:r>
              <a:rPr sz="969" b="0" i="0">
                <a:solidFill>
                  <a:srgbClr val="CBD5E1"/>
                </a:solidFill>
                <a:latin typeface="Microsoft YaHei"/>
              </a:rPr>
              <a:t>밭 면적 약 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70</a:t>
            </a:r>
            <a:r>
              <a:rPr sz="969" b="0" i="0">
                <a:solidFill>
                  <a:srgbClr val="CBD5E1"/>
                </a:solidFill>
                <a:latin typeface="Microsoft YaHei"/>
              </a:rPr>
              <a:t>만 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ha)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7301" y="6223694"/>
            <a:ext cx="2462277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 i="0">
                <a:solidFill>
                  <a:srgbClr val="4DA7FF"/>
                </a:solidFill>
                <a:latin typeface="Questrial"/>
              </a:rPr>
              <a:t>3</a:t>
            </a:r>
            <a:r>
              <a:rPr sz="969" b="1" i="0">
                <a:solidFill>
                  <a:srgbClr val="4DA7FF"/>
                </a:solidFill>
                <a:latin typeface="Microsoft YaHei"/>
              </a:rPr>
              <a:t>차</a:t>
            </a:r>
            <a:r>
              <a:rPr sz="969" b="1" i="0">
                <a:solidFill>
                  <a:srgbClr val="4DA7FF"/>
                </a:solidFill>
                <a:latin typeface="Questrial"/>
              </a:rPr>
              <a:t>: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969" b="0" i="0">
                <a:solidFill>
                  <a:srgbClr val="CBD5E1"/>
                </a:solidFill>
                <a:latin typeface="Microsoft YaHei"/>
              </a:rPr>
              <a:t>농업기술센터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, </a:t>
            </a:r>
            <a:r>
              <a:rPr sz="969" b="0" i="0">
                <a:solidFill>
                  <a:srgbClr val="CBD5E1"/>
                </a:solidFill>
                <a:latin typeface="Microsoft YaHei"/>
              </a:rPr>
              <a:t>시범지구 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(</a:t>
            </a:r>
            <a:r>
              <a:rPr sz="969" b="0" i="0">
                <a:solidFill>
                  <a:srgbClr val="CBD5E1"/>
                </a:solidFill>
                <a:latin typeface="Microsoft YaHei"/>
              </a:rPr>
              <a:t>정부 사업 연계</a:t>
            </a:r>
            <a:r>
              <a:rPr sz="969" b="0" i="0">
                <a:solidFill>
                  <a:srgbClr val="CBD5E1"/>
                </a:solidFill>
                <a:latin typeface="Questrial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63467" y="333375"/>
            <a:ext cx="1465064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79" b="0" i="0">
                <a:solidFill>
                  <a:srgbClr val="FFFFFF"/>
                </a:solidFill>
                <a:latin typeface="Questrial"/>
              </a:rPr>
              <a:t>SWOT </a:t>
            </a:r>
            <a:r>
              <a:rPr sz="2279" b="0" i="0">
                <a:solidFill>
                  <a:srgbClr val="FFFFFF"/>
                </a:solidFill>
                <a:latin typeface="Microsoft YaHei"/>
              </a:rPr>
              <a:t>분석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81175"/>
            <a:ext cx="54864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28155" y="2057400"/>
            <a:ext cx="1144488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DA7FF"/>
                </a:solidFill>
                <a:latin typeface="Microsoft YaHei"/>
              </a:rPr>
              <a:t>강점 </a:t>
            </a:r>
            <a:r>
              <a:rPr sz="1800" b="0" i="0">
                <a:solidFill>
                  <a:srgbClr val="4DA7FF"/>
                </a:solidFill>
                <a:latin typeface="Questrial"/>
              </a:rPr>
              <a:t>&amp; </a:t>
            </a:r>
            <a:r>
              <a:rPr sz="1800" b="0" i="0">
                <a:solidFill>
                  <a:srgbClr val="4DA7FF"/>
                </a:solidFill>
                <a:latin typeface="Microsoft YaHei"/>
              </a:rPr>
              <a:t>기회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25" y="2581275"/>
            <a:ext cx="1856333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E0F2FE"/>
                </a:solidFill>
                <a:latin typeface="Microsoft YaHei"/>
              </a:rPr>
              <a:t>내부 강점 </a:t>
            </a:r>
            <a:r>
              <a:rPr sz="1368" b="0" i="0">
                <a:solidFill>
                  <a:srgbClr val="E0F2FE"/>
                </a:solidFill>
                <a:latin typeface="Questrial"/>
              </a:rPr>
              <a:t>(STRENGTHS)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2962275"/>
            <a:ext cx="21907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6078" y="2986980"/>
            <a:ext cx="3570499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>
                <a:solidFill>
                  <a:srgbClr val="CBD5E1"/>
                </a:solidFill>
                <a:latin typeface="Microsoft YaHei"/>
              </a:rPr>
              <a:t>글로벌 선도 기술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적용으로 국내 최초 레이저 제초 로봇 상용화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352800"/>
            <a:ext cx="228600" cy="1809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6078" y="3367831"/>
            <a:ext cx="2836181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>
                <a:solidFill>
                  <a:srgbClr val="CBD5E1"/>
                </a:solidFill>
                <a:latin typeface="Microsoft YaHei"/>
              </a:rPr>
              <a:t>친환경 솔루션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으로 제초제 저항성 문제 근본 해결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3724275"/>
            <a:ext cx="2286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5156" y="3748682"/>
            <a:ext cx="2445508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>
                <a:solidFill>
                  <a:srgbClr val="CBD5E1"/>
                </a:solidFill>
                <a:latin typeface="Microsoft YaHei"/>
              </a:rPr>
              <a:t>노동력 대체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로 농업 고령화 문제 해결 기여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4105275"/>
            <a:ext cx="2286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6078" y="4129533"/>
            <a:ext cx="2027301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국내 경쟁자 부재로 </a:t>
            </a:r>
            <a:r>
              <a:rPr sz="1026" b="1" i="0">
                <a:solidFill>
                  <a:srgbClr val="CBD5E1"/>
                </a:solidFill>
                <a:latin typeface="Microsoft YaHei"/>
              </a:rPr>
              <a:t>선점 기회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5325" y="4693294"/>
            <a:ext cx="2190154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E0F2FE"/>
                </a:solidFill>
                <a:latin typeface="Microsoft YaHei"/>
              </a:rPr>
              <a:t>외부 기회 </a:t>
            </a:r>
            <a:r>
              <a:rPr sz="1368" b="0" i="0">
                <a:solidFill>
                  <a:srgbClr val="E0F2FE"/>
                </a:solidFill>
                <a:latin typeface="Questrial"/>
              </a:rPr>
              <a:t>(OPPORTUNITIES)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5086350"/>
            <a:ext cx="219075" cy="1809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06078" y="5099000"/>
            <a:ext cx="2660267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정부 </a:t>
            </a:r>
            <a:r>
              <a:rPr sz="1026" b="1" i="0">
                <a:solidFill>
                  <a:srgbClr val="CBD5E1"/>
                </a:solidFill>
                <a:latin typeface="Microsoft YaHei"/>
              </a:rPr>
              <a:t>스마트농업 정책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지원 확대 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(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연 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16%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성장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)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325" y="5467350"/>
            <a:ext cx="219075" cy="1809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6078" y="5479851"/>
            <a:ext cx="2328082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>
                <a:solidFill>
                  <a:srgbClr val="CBD5E1"/>
                </a:solidFill>
                <a:latin typeface="Microsoft YaHei"/>
              </a:rPr>
              <a:t>친환경 농업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시장 지속 성장 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(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연 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6%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이상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)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5325" y="5838825"/>
            <a:ext cx="219075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6078" y="5860702"/>
            <a:ext cx="2287601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동남아시아 등 </a:t>
            </a:r>
            <a:r>
              <a:rPr sz="1026" b="1" i="0">
                <a:solidFill>
                  <a:srgbClr val="CBD5E1"/>
                </a:solidFill>
                <a:latin typeface="Microsoft YaHei"/>
              </a:rPr>
              <a:t>신흥시장 수출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기회 확대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325" y="6219825"/>
            <a:ext cx="219075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6078" y="6241553"/>
            <a:ext cx="2157376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글로벌 </a:t>
            </a:r>
            <a:r>
              <a:rPr sz="1026" b="1" i="0">
                <a:solidFill>
                  <a:srgbClr val="CBD5E1"/>
                </a:solidFill>
                <a:latin typeface="Microsoft YaHei"/>
              </a:rPr>
              <a:t>제초제 규제 강화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흐름 가속화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781175"/>
            <a:ext cx="5486400" cy="4114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19355" y="2057400"/>
            <a:ext cx="1144488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DA7FF"/>
                </a:solidFill>
                <a:latin typeface="Microsoft YaHei"/>
              </a:rPr>
              <a:t>약점 </a:t>
            </a:r>
            <a:r>
              <a:rPr sz="1800" b="0" i="0">
                <a:solidFill>
                  <a:srgbClr val="4DA7FF"/>
                </a:solidFill>
                <a:latin typeface="Questrial"/>
              </a:rPr>
              <a:t>&amp; </a:t>
            </a:r>
            <a:r>
              <a:rPr sz="1800" b="0" i="0">
                <a:solidFill>
                  <a:srgbClr val="4DA7FF"/>
                </a:solidFill>
                <a:latin typeface="Microsoft YaHei"/>
              </a:rPr>
              <a:t>위협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6525" y="2581275"/>
            <a:ext cx="2011114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E0F2FE"/>
                </a:solidFill>
                <a:latin typeface="Microsoft YaHei"/>
              </a:rPr>
              <a:t>내부 약점 </a:t>
            </a:r>
            <a:r>
              <a:rPr sz="1368" b="0" i="0">
                <a:solidFill>
                  <a:srgbClr val="E0F2FE"/>
                </a:solidFill>
                <a:latin typeface="Questrial"/>
              </a:rPr>
              <a:t>(WEAKNESSES)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2971800"/>
            <a:ext cx="228600" cy="18097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797278" y="2986980"/>
            <a:ext cx="2027152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>
                <a:solidFill>
                  <a:srgbClr val="CBD5E1"/>
                </a:solidFill>
                <a:latin typeface="Microsoft YaHei"/>
              </a:rPr>
              <a:t>메카넘휠 노지 적용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기술 검증 필요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6525" y="3343275"/>
            <a:ext cx="219075" cy="190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797278" y="3367831"/>
            <a:ext cx="2099780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>
                <a:solidFill>
                  <a:srgbClr val="CBD5E1"/>
                </a:solidFill>
                <a:latin typeface="Microsoft YaHei"/>
              </a:rPr>
              <a:t>높은 초기 개발비용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(5,000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만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~1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억원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)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86525" y="3724275"/>
            <a:ext cx="219075" cy="1905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797278" y="3748682"/>
            <a:ext cx="1999470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아이디어 단계로 </a:t>
            </a:r>
            <a:r>
              <a:rPr sz="1026" b="1" i="0">
                <a:solidFill>
                  <a:srgbClr val="CBD5E1"/>
                </a:solidFill>
                <a:latin typeface="Microsoft YaHei"/>
              </a:rPr>
              <a:t>기술력 입증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필요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86525" y="4105275"/>
            <a:ext cx="219075" cy="190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797278" y="4129533"/>
            <a:ext cx="1608647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>
                <a:solidFill>
                  <a:srgbClr val="CBD5E1"/>
                </a:solidFill>
                <a:latin typeface="Microsoft YaHei"/>
              </a:rPr>
              <a:t>레이저 안전 규제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대응 필요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6525" y="4693294"/>
            <a:ext cx="1604516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E0F2FE"/>
                </a:solidFill>
                <a:latin typeface="Microsoft YaHei"/>
              </a:rPr>
              <a:t>외부 위협 </a:t>
            </a:r>
            <a:r>
              <a:rPr sz="1368" b="0" i="0">
                <a:solidFill>
                  <a:srgbClr val="E0F2FE"/>
                </a:solidFill>
                <a:latin typeface="Questrial"/>
              </a:rPr>
              <a:t>(THREATS)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6525" y="5076825"/>
            <a:ext cx="219075" cy="1905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797278" y="5099000"/>
            <a:ext cx="2483459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>
                <a:solidFill>
                  <a:srgbClr val="CBD5E1"/>
                </a:solidFill>
                <a:latin typeface="Questrial"/>
              </a:rPr>
              <a:t>Carbon Robotics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등 글로벌 기업 한국 진출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77000" y="5467350"/>
            <a:ext cx="228600" cy="18097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797278" y="5479851"/>
            <a:ext cx="2264086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중국 저가 제품 </a:t>
            </a:r>
            <a:r>
              <a:rPr sz="1026" b="1" i="0">
                <a:solidFill>
                  <a:srgbClr val="CBD5E1"/>
                </a:solidFill>
                <a:latin typeface="Questrial"/>
              </a:rPr>
              <a:t>(Hg LaserWeeder)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경쟁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86525" y="5848350"/>
            <a:ext cx="219075" cy="18097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97278" y="5860702"/>
            <a:ext cx="1738872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>
                <a:solidFill>
                  <a:srgbClr val="CBD5E1"/>
                </a:solidFill>
                <a:latin typeface="Microsoft YaHei"/>
              </a:rPr>
              <a:t>대동그룹</a:t>
            </a:r>
            <a:r>
              <a:rPr sz="1026" b="0" i="0">
                <a:solidFill>
                  <a:srgbClr val="CBD5E1"/>
                </a:solidFill>
                <a:latin typeface="Questrial"/>
              </a:rPr>
              <a:t> </a:t>
            </a:r>
            <a:r>
              <a:rPr sz="1026" b="0" i="0">
                <a:solidFill>
                  <a:srgbClr val="CBD5E1"/>
                </a:solidFill>
                <a:latin typeface="Microsoft YaHei"/>
              </a:rPr>
              <a:t>등 대기업 시장 진입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86525" y="6219825"/>
            <a:ext cx="228600" cy="1905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806356" y="6241553"/>
            <a:ext cx="1450740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0" i="0">
                <a:solidFill>
                  <a:srgbClr val="CBD5E1"/>
                </a:solidFill>
                <a:latin typeface="Microsoft YaHei"/>
              </a:rPr>
              <a:t>농가의 </a:t>
            </a:r>
            <a:r>
              <a:rPr sz="1026" b="1" i="0">
                <a:solidFill>
                  <a:srgbClr val="CBD5E1"/>
                </a:solidFill>
                <a:latin typeface="Microsoft YaHei"/>
              </a:rPr>
              <a:t>신기술 수용 저항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1163" y="333375"/>
            <a:ext cx="2149673" cy="2952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79" b="0" i="0">
                <a:solidFill>
                  <a:srgbClr val="FFFFFF"/>
                </a:solidFill>
                <a:latin typeface="Microsoft YaHei"/>
              </a:rPr>
              <a:t>리스크 대응 전략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466725"/>
            <a:ext cx="4924425" cy="2286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775" y="714375"/>
            <a:ext cx="2476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02134" y="731639"/>
            <a:ext cx="184785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FFFFFF"/>
                </a:solidFill>
                <a:latin typeface="Microsoft YaHei"/>
              </a:rPr>
              <a:t>메카넘휠 노지 적용 실패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7300" y="1095375"/>
            <a:ext cx="485775" cy="257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83059" y="1160264"/>
            <a:ext cx="23157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2" b="0" i="0">
                <a:solidFill>
                  <a:srgbClr val="FCA5A5"/>
                </a:solidFill>
                <a:latin typeface="Microsoft YaHei"/>
              </a:rPr>
              <a:t>높음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234" y="1541264"/>
            <a:ext cx="389393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BD5E1"/>
                </a:solidFill>
                <a:latin typeface="Microsoft YaHei"/>
              </a:rPr>
              <a:t>경사지나 불규칙 지면에서 슬립 발생 및 주행 성능 저하 가능성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300" y="1885950"/>
            <a:ext cx="4448175" cy="628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02109" y="2030015"/>
            <a:ext cx="4215967" cy="3289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>
                <a:solidFill>
                  <a:srgbClr val="4DA7FF"/>
                </a:solidFill>
                <a:latin typeface="Microsoft YaHei"/>
              </a:rPr>
              <a:t>대응방안</a:t>
            </a:r>
            <a:r>
              <a:rPr sz="1026" b="1" i="0">
                <a:solidFill>
                  <a:srgbClr val="4DA7FF"/>
                </a:solidFill>
                <a:latin typeface="Questrial"/>
              </a:rPr>
              <a:t>:</a:t>
            </a:r>
            <a:r>
              <a:rPr sz="1026" b="0" i="0">
                <a:solidFill>
                  <a:srgbClr val="E0F2FE"/>
                </a:solidFill>
                <a:latin typeface="Questrial"/>
              </a:rPr>
              <a:t> 1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차 타겟을 시설원예로 전환</a:t>
            </a:r>
            <a:r>
              <a:rPr sz="1026" b="0" i="0">
                <a:solidFill>
                  <a:srgbClr val="E0F2FE"/>
                </a:solidFill>
                <a:latin typeface="Questrial"/>
              </a:rPr>
              <a:t>, 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하이브리드 휠 시스템 개발</a:t>
            </a:r>
            <a:r>
              <a:rPr sz="1026" b="0" i="0">
                <a:solidFill>
                  <a:srgbClr val="E0F2FE"/>
                </a:solidFill>
                <a:latin typeface="Questrial"/>
              </a:rPr>
              <a:t>, 4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륜 조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향 대안 검토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466725"/>
            <a:ext cx="4924425" cy="2286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714375"/>
            <a:ext cx="142875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43700" y="731639"/>
            <a:ext cx="1116210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FFFFFF"/>
                </a:solidFill>
                <a:latin typeface="Microsoft YaHei"/>
              </a:rPr>
              <a:t>개발 비용 초과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1095375"/>
            <a:ext cx="485775" cy="2571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10350" y="1160264"/>
            <a:ext cx="23157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2" b="0" i="0">
                <a:solidFill>
                  <a:srgbClr val="FCD34D"/>
                </a:solidFill>
                <a:latin typeface="Microsoft YaHei"/>
              </a:rPr>
              <a:t>중간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1541264"/>
            <a:ext cx="367605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BD5E1"/>
                </a:solidFill>
                <a:latin typeface="Microsoft YaHei"/>
              </a:rPr>
              <a:t>초기 개발 비용 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5,000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만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~1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억원 초과 및 기술 검증 기간 연장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1885950"/>
            <a:ext cx="4448175" cy="628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29400" y="2030015"/>
            <a:ext cx="4129944" cy="3289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>
                <a:solidFill>
                  <a:srgbClr val="4DA7FF"/>
                </a:solidFill>
                <a:latin typeface="Microsoft YaHei"/>
              </a:rPr>
              <a:t>대응방안</a:t>
            </a:r>
            <a:r>
              <a:rPr sz="1026" b="1" i="0">
                <a:solidFill>
                  <a:srgbClr val="4DA7FF"/>
                </a:solidFill>
                <a:latin typeface="Questrial"/>
              </a:rPr>
              <a:t>:</a:t>
            </a:r>
            <a:r>
              <a:rPr sz="1026" b="0" i="0">
                <a:solidFill>
                  <a:srgbClr val="E0F2FE"/>
                </a:solidFill>
                <a:latin typeface="Questrial"/>
              </a:rPr>
              <a:t> 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단계별 </a:t>
            </a:r>
            <a:r>
              <a:rPr sz="1026" b="0" i="0">
                <a:solidFill>
                  <a:srgbClr val="E0F2FE"/>
                </a:solidFill>
                <a:latin typeface="Questrial"/>
              </a:rPr>
              <a:t>MVP 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접근</a:t>
            </a:r>
            <a:r>
              <a:rPr sz="1026" b="0" i="0">
                <a:solidFill>
                  <a:srgbClr val="E0F2FE"/>
                </a:solidFill>
                <a:latin typeface="Questrial"/>
              </a:rPr>
              <a:t>, 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기성 부품 활용</a:t>
            </a:r>
            <a:r>
              <a:rPr sz="1026" b="0" i="0">
                <a:solidFill>
                  <a:srgbClr val="E0F2FE"/>
                </a:solidFill>
                <a:latin typeface="Questrial"/>
              </a:rPr>
              <a:t>, 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정부 </a:t>
            </a:r>
            <a:r>
              <a:rPr sz="1026" b="0" i="0">
                <a:solidFill>
                  <a:srgbClr val="E0F2FE"/>
                </a:solidFill>
                <a:latin typeface="Questrial"/>
              </a:rPr>
              <a:t>R&amp;D 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사업 추가 지원 확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보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75" y="3048000"/>
            <a:ext cx="4924425" cy="22860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7300" y="3295650"/>
            <a:ext cx="285750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59284" y="3316485"/>
            <a:ext cx="1289893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FFFFFF"/>
                </a:solidFill>
                <a:latin typeface="Microsoft YaHei"/>
              </a:rPr>
              <a:t>시장 수용성 부족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7300" y="3676650"/>
            <a:ext cx="485775" cy="2571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83059" y="3745110"/>
            <a:ext cx="23157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2" b="0" i="0">
                <a:solidFill>
                  <a:srgbClr val="FCD34D"/>
                </a:solidFill>
                <a:latin typeface="Microsoft YaHei"/>
              </a:rPr>
              <a:t>중간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9234" y="4126110"/>
            <a:ext cx="424487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BD5E1"/>
                </a:solidFill>
                <a:latin typeface="Microsoft YaHei"/>
              </a:rPr>
              <a:t>농가의 신기술 수용 저항 및 높은 초기 비용 부담으로 인한 도입 지연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300" y="4467225"/>
            <a:ext cx="4448175" cy="6286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02109" y="4614862"/>
            <a:ext cx="4160603" cy="3289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>
                <a:solidFill>
                  <a:srgbClr val="4DA7FF"/>
                </a:solidFill>
                <a:latin typeface="Microsoft YaHei"/>
              </a:rPr>
              <a:t>대응방안</a:t>
            </a:r>
            <a:r>
              <a:rPr sz="1026" b="1" i="0">
                <a:solidFill>
                  <a:srgbClr val="4DA7FF"/>
                </a:solidFill>
                <a:latin typeface="Questrial"/>
              </a:rPr>
              <a:t>:</a:t>
            </a:r>
            <a:r>
              <a:rPr sz="1026" b="0" i="0">
                <a:solidFill>
                  <a:srgbClr val="E0F2FE"/>
                </a:solidFill>
                <a:latin typeface="Questrial"/>
              </a:rPr>
              <a:t> RaaS 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모델로 초기 비용 부담 제거</a:t>
            </a:r>
            <a:r>
              <a:rPr sz="1026" b="0" i="0">
                <a:solidFill>
                  <a:srgbClr val="E0F2FE"/>
                </a:solidFill>
                <a:latin typeface="Questrial"/>
              </a:rPr>
              <a:t>, 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정부 시범사업 참여</a:t>
            </a:r>
            <a:r>
              <a:rPr sz="1026" b="0" i="0">
                <a:solidFill>
                  <a:srgbClr val="E0F2FE"/>
                </a:solidFill>
                <a:latin typeface="Questrial"/>
              </a:rPr>
              <a:t>, 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실증 사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례 축적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3048000"/>
            <a:ext cx="4924425" cy="22860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6525" y="3286125"/>
            <a:ext cx="228600" cy="2476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29425" y="3316485"/>
            <a:ext cx="1289893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8" b="0" i="0">
                <a:solidFill>
                  <a:srgbClr val="FFFFFF"/>
                </a:solidFill>
                <a:latin typeface="Microsoft YaHei"/>
              </a:rPr>
              <a:t>글로벌 기업 경쟁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3676650"/>
            <a:ext cx="485775" cy="25717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610350" y="3745110"/>
            <a:ext cx="231576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2" b="0" i="0">
                <a:solidFill>
                  <a:srgbClr val="FCD34D"/>
                </a:solidFill>
                <a:latin typeface="Microsoft YaHei"/>
              </a:rPr>
              <a:t>중간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6525" y="4126110"/>
            <a:ext cx="428714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CBD5E1"/>
                </a:solidFill>
                <a:latin typeface="Questrial"/>
              </a:rPr>
              <a:t>Carbon Robotics 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등 글로벌 기업의 한국 진출 및 중국 저가 제품 경쟁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525" y="4467225"/>
            <a:ext cx="4448175" cy="42862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629400" y="4614862"/>
            <a:ext cx="3914739" cy="133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6" b="1" i="0">
                <a:solidFill>
                  <a:srgbClr val="4DA7FF"/>
                </a:solidFill>
                <a:latin typeface="Microsoft YaHei"/>
              </a:rPr>
              <a:t>대응방안</a:t>
            </a:r>
            <a:r>
              <a:rPr sz="1026" b="1" i="0">
                <a:solidFill>
                  <a:srgbClr val="4DA7FF"/>
                </a:solidFill>
                <a:latin typeface="Questrial"/>
              </a:rPr>
              <a:t>:</a:t>
            </a:r>
            <a:r>
              <a:rPr sz="1026" b="0" i="0">
                <a:solidFill>
                  <a:srgbClr val="E0F2FE"/>
                </a:solidFill>
                <a:latin typeface="Questrial"/>
              </a:rPr>
              <a:t> 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한국형 작물 특화</a:t>
            </a:r>
            <a:r>
              <a:rPr sz="1026" b="0" i="0">
                <a:solidFill>
                  <a:srgbClr val="E0F2FE"/>
                </a:solidFill>
                <a:latin typeface="Questrial"/>
              </a:rPr>
              <a:t>, 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소규모 농가 타겟</a:t>
            </a:r>
            <a:r>
              <a:rPr sz="1026" b="0" i="0">
                <a:solidFill>
                  <a:srgbClr val="E0F2FE"/>
                </a:solidFill>
                <a:latin typeface="Questrial"/>
              </a:rPr>
              <a:t>, </a:t>
            </a:r>
            <a:r>
              <a:rPr sz="1026" b="0" i="0">
                <a:solidFill>
                  <a:srgbClr val="E0F2FE"/>
                </a:solidFill>
                <a:latin typeface="Microsoft YaHei"/>
              </a:rPr>
              <a:t>현지화 서비스 차별화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1150" y="5943600"/>
            <a:ext cx="9029700" cy="12763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329088" y="6206132"/>
            <a:ext cx="1533673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4" b="0" i="0">
                <a:solidFill>
                  <a:srgbClr val="4DA7FF"/>
                </a:solidFill>
                <a:latin typeface="Microsoft YaHei"/>
              </a:rPr>
              <a:t>종합 리스크 관리 전략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96516" y="6549032"/>
            <a:ext cx="8471356" cy="37445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4DA7FF"/>
                </a:solidFill>
                <a:latin typeface="Microsoft YaHei"/>
              </a:rPr>
              <a:t>단계적 접근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을 통한 기술 검증과 </a:t>
            </a:r>
            <a:r>
              <a:rPr sz="1139" b="0" i="0">
                <a:solidFill>
                  <a:srgbClr val="4DA7FF"/>
                </a:solidFill>
                <a:latin typeface="Microsoft YaHei"/>
              </a:rPr>
              <a:t>유연한 사업 모델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로 리스크를 최소화하며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, 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정부 정책 지원과 </a:t>
            </a:r>
            <a:r>
              <a:rPr sz="1139" b="0" i="0">
                <a:solidFill>
                  <a:srgbClr val="4DA7FF"/>
                </a:solidFill>
                <a:latin typeface="Microsoft YaHei"/>
              </a:rPr>
              <a:t>현지화 전략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을 통해 경쟁 우위를 확보합니</a:t>
            </a:r>
            <a:r>
              <a:rPr sz="1139" b="0" i="0">
                <a:solidFill>
                  <a:srgbClr val="CBD5E1"/>
                </a:solidFill>
                <a:latin typeface="Microsoft YaHei"/>
              </a:rPr>
              <a:t>다</a:t>
            </a:r>
            <a:r>
              <a:rPr sz="1139" b="0" i="0">
                <a:solidFill>
                  <a:srgbClr val="CBD5E1"/>
                </a:solidFill>
                <a:latin typeface="Questrial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49204" y="228600"/>
            <a:ext cx="3493442" cy="428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8" b="1" i="0">
                <a:solidFill>
                  <a:srgbClr val="FFFFFF"/>
                </a:solidFill>
                <a:latin typeface="Microsoft YaHei"/>
              </a:rPr>
              <a:t>위험 분석 및 대응 전략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85875"/>
            <a:ext cx="5334000" cy="14763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552575"/>
            <a:ext cx="247650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90625" y="1532632"/>
            <a:ext cx="1937444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FFFFFF"/>
                </a:solidFill>
                <a:latin typeface="Microsoft YaHei"/>
              </a:rPr>
              <a:t>메카넘휠 노지 적용 실패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1543050"/>
            <a:ext cx="495300" cy="257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28094" y="1599307"/>
            <a:ext cx="24378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6B6B"/>
                </a:solidFill>
                <a:latin typeface="Microsoft YaHei"/>
              </a:rPr>
              <a:t>높음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1980307"/>
            <a:ext cx="3774727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0F2FE"/>
                </a:solidFill>
                <a:latin typeface="Microsoft YaHei"/>
              </a:rPr>
              <a:t>경사지에서 슬립 발생</a:t>
            </a:r>
            <a:r>
              <a:rPr sz="1080" b="0" i="0">
                <a:solidFill>
                  <a:srgbClr val="E0F2FE"/>
                </a:solidFill>
                <a:latin typeface="Inter"/>
              </a:rPr>
              <a:t>, 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불규칙한 지면에서 주행 성능 저하 위험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342703"/>
            <a:ext cx="3999458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4DA7FF"/>
                </a:solidFill>
                <a:latin typeface="Cambria Math"/>
              </a:rPr>
              <a:t>→ </a:t>
            </a:r>
            <a:r>
              <a:rPr sz="1019" b="1" i="0">
                <a:solidFill>
                  <a:srgbClr val="4DA7FF"/>
                </a:solidFill>
                <a:latin typeface="Microsoft YaHei"/>
              </a:rPr>
              <a:t>시설원예 우선 타겟</a:t>
            </a:r>
            <a:r>
              <a:rPr sz="1019" b="1" i="0">
                <a:solidFill>
                  <a:srgbClr val="4DA7FF"/>
                </a:solidFill>
                <a:latin typeface="Inter"/>
              </a:rPr>
              <a:t>, </a:t>
            </a:r>
            <a:r>
              <a:rPr sz="1019" b="1" i="0">
                <a:solidFill>
                  <a:srgbClr val="4DA7FF"/>
                </a:solidFill>
                <a:latin typeface="Microsoft YaHei"/>
              </a:rPr>
              <a:t>하이브리드 휠 시스템 개발</a:t>
            </a:r>
            <a:r>
              <a:rPr sz="1019" b="1" i="0">
                <a:solidFill>
                  <a:srgbClr val="4DA7FF"/>
                </a:solidFill>
                <a:latin typeface="Inter"/>
              </a:rPr>
              <a:t>, 4</a:t>
            </a:r>
            <a:r>
              <a:rPr sz="1019" b="1" i="0">
                <a:solidFill>
                  <a:srgbClr val="4DA7FF"/>
                </a:solidFill>
                <a:latin typeface="Microsoft YaHei"/>
              </a:rPr>
              <a:t>륜 조향 대안 검토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285875"/>
            <a:ext cx="5334000" cy="14763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1552575"/>
            <a:ext cx="142875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43700" y="1532632"/>
            <a:ext cx="1169789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FFFFFF"/>
                </a:solidFill>
                <a:latin typeface="Microsoft YaHei"/>
              </a:rPr>
              <a:t>개발 비용 초과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1475" y="1543050"/>
            <a:ext cx="495300" cy="2571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113514" y="1599307"/>
            <a:ext cx="24378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C107"/>
                </a:solidFill>
                <a:latin typeface="Microsoft YaHei"/>
              </a:rPr>
              <a:t>중간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1980307"/>
            <a:ext cx="2631281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0F2FE"/>
                </a:solidFill>
                <a:latin typeface="Microsoft YaHei"/>
              </a:rPr>
              <a:t>초기 개발 비용 </a:t>
            </a:r>
            <a:r>
              <a:rPr sz="1080" b="0" i="0">
                <a:solidFill>
                  <a:srgbClr val="E0F2FE"/>
                </a:solidFill>
                <a:latin typeface="Inter"/>
              </a:rPr>
              <a:t>5,000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만</a:t>
            </a:r>
            <a:r>
              <a:rPr sz="1080" b="0" i="0">
                <a:solidFill>
                  <a:srgbClr val="E0F2FE"/>
                </a:solidFill>
                <a:latin typeface="Inter"/>
              </a:rPr>
              <a:t>~1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억원 초과 가능성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2342703"/>
            <a:ext cx="3861941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4DA7FF"/>
                </a:solidFill>
                <a:latin typeface="Cambria Math"/>
              </a:rPr>
              <a:t>→ </a:t>
            </a:r>
            <a:r>
              <a:rPr sz="1019" b="1" i="0">
                <a:solidFill>
                  <a:srgbClr val="4DA7FF"/>
                </a:solidFill>
                <a:latin typeface="Microsoft YaHei"/>
              </a:rPr>
              <a:t>단계별 </a:t>
            </a:r>
            <a:r>
              <a:rPr sz="1019" b="1" i="0">
                <a:solidFill>
                  <a:srgbClr val="4DA7FF"/>
                </a:solidFill>
                <a:latin typeface="Inter"/>
              </a:rPr>
              <a:t>MVP </a:t>
            </a:r>
            <a:r>
              <a:rPr sz="1019" b="1" i="0">
                <a:solidFill>
                  <a:srgbClr val="4DA7FF"/>
                </a:solidFill>
                <a:latin typeface="Microsoft YaHei"/>
              </a:rPr>
              <a:t>접근</a:t>
            </a:r>
            <a:r>
              <a:rPr sz="1019" b="1" i="0">
                <a:solidFill>
                  <a:srgbClr val="4DA7FF"/>
                </a:solidFill>
                <a:latin typeface="Inter"/>
              </a:rPr>
              <a:t>, </a:t>
            </a:r>
            <a:r>
              <a:rPr sz="1019" b="1" i="0">
                <a:solidFill>
                  <a:srgbClr val="4DA7FF"/>
                </a:solidFill>
                <a:latin typeface="Microsoft YaHei"/>
              </a:rPr>
              <a:t>기성 부품 활용</a:t>
            </a:r>
            <a:r>
              <a:rPr sz="1019" b="1" i="0">
                <a:solidFill>
                  <a:srgbClr val="4DA7FF"/>
                </a:solidFill>
                <a:latin typeface="Inter"/>
              </a:rPr>
              <a:t>, </a:t>
            </a:r>
            <a:r>
              <a:rPr sz="1019" b="1" i="0">
                <a:solidFill>
                  <a:srgbClr val="4DA7FF"/>
                </a:solidFill>
                <a:latin typeface="Microsoft YaHei"/>
              </a:rPr>
              <a:t>정부 </a:t>
            </a:r>
            <a:r>
              <a:rPr sz="1019" b="1" i="0">
                <a:solidFill>
                  <a:srgbClr val="4DA7FF"/>
                </a:solidFill>
                <a:latin typeface="Inter"/>
              </a:rPr>
              <a:t>R&amp;D </a:t>
            </a:r>
            <a:r>
              <a:rPr sz="1019" b="1" i="0">
                <a:solidFill>
                  <a:srgbClr val="4DA7FF"/>
                </a:solidFill>
                <a:latin typeface="Microsoft YaHei"/>
              </a:rPr>
              <a:t>사업 추가 지원 확보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57525"/>
            <a:ext cx="5334000" cy="14763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5" y="3324225"/>
            <a:ext cx="28575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47775" y="3308449"/>
            <a:ext cx="1352550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FFFFFF"/>
                </a:solidFill>
                <a:latin typeface="Microsoft YaHei"/>
              </a:rPr>
              <a:t>시장 수용성 부족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6525" y="3314700"/>
            <a:ext cx="495300" cy="2571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800350" y="3375124"/>
            <a:ext cx="24378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C107"/>
                </a:solidFill>
                <a:latin typeface="Microsoft YaHei"/>
              </a:rPr>
              <a:t>중간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756124"/>
            <a:ext cx="2776686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0F2FE"/>
                </a:solidFill>
                <a:latin typeface="Microsoft YaHei"/>
              </a:rPr>
              <a:t>농가의 신기술 수용 저항</a:t>
            </a:r>
            <a:r>
              <a:rPr sz="1080" b="0" i="0">
                <a:solidFill>
                  <a:srgbClr val="E0F2FE"/>
                </a:solidFill>
                <a:latin typeface="Inter"/>
              </a:rPr>
              <a:t>, 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높은 초기 비용 부담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4118520"/>
            <a:ext cx="4132659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4DA7FF"/>
                </a:solidFill>
                <a:latin typeface="Cambria Math"/>
              </a:rPr>
              <a:t>→ </a:t>
            </a:r>
            <a:r>
              <a:rPr sz="1019" b="1" i="0">
                <a:solidFill>
                  <a:srgbClr val="4DA7FF"/>
                </a:solidFill>
                <a:latin typeface="Inter"/>
              </a:rPr>
              <a:t>RaaS </a:t>
            </a:r>
            <a:r>
              <a:rPr sz="1019" b="1" i="0">
                <a:solidFill>
                  <a:srgbClr val="4DA7FF"/>
                </a:solidFill>
                <a:latin typeface="Microsoft YaHei"/>
              </a:rPr>
              <a:t>모델로 초기 비용 부담 제거</a:t>
            </a:r>
            <a:r>
              <a:rPr sz="1019" b="1" i="0">
                <a:solidFill>
                  <a:srgbClr val="4DA7FF"/>
                </a:solidFill>
                <a:latin typeface="Inter"/>
              </a:rPr>
              <a:t>, </a:t>
            </a:r>
            <a:r>
              <a:rPr sz="1019" b="1" i="0">
                <a:solidFill>
                  <a:srgbClr val="4DA7FF"/>
                </a:solidFill>
                <a:latin typeface="Microsoft YaHei"/>
              </a:rPr>
              <a:t>정부 시범사업 참여</a:t>
            </a:r>
            <a:r>
              <a:rPr sz="1019" b="1" i="0">
                <a:solidFill>
                  <a:srgbClr val="4DA7FF"/>
                </a:solidFill>
                <a:latin typeface="Inter"/>
              </a:rPr>
              <a:t>, </a:t>
            </a:r>
            <a:r>
              <a:rPr sz="1019" b="1" i="0">
                <a:solidFill>
                  <a:srgbClr val="4DA7FF"/>
                </a:solidFill>
                <a:latin typeface="Microsoft YaHei"/>
              </a:rPr>
              <a:t>실증 사례 축적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3057525"/>
            <a:ext cx="5334000" cy="14763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525" y="3314700"/>
            <a:ext cx="228600" cy="2476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29425" y="3308449"/>
            <a:ext cx="1352550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FFFFFF"/>
                </a:solidFill>
                <a:latin typeface="Microsoft YaHei"/>
              </a:rPr>
              <a:t>글로벌 기업 경쟁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8175" y="3314700"/>
            <a:ext cx="495300" cy="2571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382000" y="3375124"/>
            <a:ext cx="24378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FFC107"/>
                </a:solidFill>
                <a:latin typeface="Microsoft YaHei"/>
              </a:rPr>
              <a:t>중간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6525" y="3756124"/>
            <a:ext cx="2955875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0F2FE"/>
                </a:solidFill>
                <a:latin typeface="Inter"/>
              </a:rPr>
              <a:t>Carbon Robotics 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등 선도 기업의 한국 진출 위협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86525" y="4118520"/>
            <a:ext cx="3462188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4DA7FF"/>
                </a:solidFill>
                <a:latin typeface="Cambria Math"/>
              </a:rPr>
              <a:t>→ </a:t>
            </a:r>
            <a:r>
              <a:rPr sz="1019" b="1" i="0">
                <a:solidFill>
                  <a:srgbClr val="4DA7FF"/>
                </a:solidFill>
                <a:latin typeface="Microsoft YaHei"/>
              </a:rPr>
              <a:t>한국형 작물 특화</a:t>
            </a:r>
            <a:r>
              <a:rPr sz="1019" b="1" i="0">
                <a:solidFill>
                  <a:srgbClr val="4DA7FF"/>
                </a:solidFill>
                <a:latin typeface="Inter"/>
              </a:rPr>
              <a:t>, </a:t>
            </a:r>
            <a:r>
              <a:rPr sz="1019" b="1" i="0">
                <a:solidFill>
                  <a:srgbClr val="4DA7FF"/>
                </a:solidFill>
                <a:latin typeface="Microsoft YaHei"/>
              </a:rPr>
              <a:t>소규모 농가 타겟</a:t>
            </a:r>
            <a:r>
              <a:rPr sz="1019" b="1" i="0">
                <a:solidFill>
                  <a:srgbClr val="4DA7FF"/>
                </a:solidFill>
                <a:latin typeface="Inter"/>
              </a:rPr>
              <a:t>, </a:t>
            </a:r>
            <a:r>
              <a:rPr sz="1019" b="1" i="0">
                <a:solidFill>
                  <a:srgbClr val="4DA7FF"/>
                </a:solidFill>
                <a:latin typeface="Microsoft YaHei"/>
              </a:rPr>
              <a:t>현지화 서비스 차별화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5143500"/>
            <a:ext cx="10972800" cy="126682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74836" y="5389066"/>
            <a:ext cx="1072604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4DA7FF"/>
                </a:solidFill>
                <a:latin typeface="Microsoft YaHei"/>
              </a:rPr>
              <a:t>핵심 대응 전략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725" y="5381625"/>
            <a:ext cx="152400" cy="2095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47725" y="5751016"/>
            <a:ext cx="10472112" cy="38144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0F2FE"/>
                </a:solidFill>
                <a:latin typeface="Microsoft YaHei"/>
              </a:rPr>
              <a:t>단계적 접근을 통한 기술 검증과 시장 진입이 성공의 핵심입니다</a:t>
            </a:r>
            <a:r>
              <a:rPr sz="1080" b="0" i="0">
                <a:solidFill>
                  <a:srgbClr val="E0F2FE"/>
                </a:solidFill>
                <a:latin typeface="Inter"/>
              </a:rPr>
              <a:t>. 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메카넘휠의 노지 적용은 추가적인 </a:t>
            </a:r>
            <a:r>
              <a:rPr sz="1080" b="0" i="0">
                <a:solidFill>
                  <a:srgbClr val="E0F2FE"/>
                </a:solidFill>
                <a:latin typeface="Inter"/>
              </a:rPr>
              <a:t>R&amp;D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가 필요하므로</a:t>
            </a:r>
            <a:r>
              <a:rPr sz="1080" b="0" i="0">
                <a:solidFill>
                  <a:srgbClr val="E0F2FE"/>
                </a:solidFill>
                <a:latin typeface="Inter"/>
              </a:rPr>
              <a:t>, 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평탄한 비닐하우스나 시설 원예 환경을 </a:t>
            </a:r>
            <a:r>
              <a:rPr sz="1080" b="0" i="0">
                <a:solidFill>
                  <a:srgbClr val="E0F2FE"/>
                </a:solidFill>
                <a:latin typeface="Inter"/>
              </a:rPr>
              <a:t>1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차 타겟으로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하여 기술 완성도를 높인 후 노지로 확장하는 전략을 권장합니다</a:t>
            </a:r>
            <a:r>
              <a:rPr sz="1080" b="0" i="0">
                <a:solidFill>
                  <a:srgbClr val="E0F2FE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92760" y="228600"/>
            <a:ext cx="4206329" cy="428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8" b="1" i="0">
                <a:solidFill>
                  <a:srgbClr val="FFFFFF"/>
                </a:solidFill>
                <a:latin typeface="Microsoft YaHei"/>
              </a:rPr>
              <a:t>개발 로드맵 및 단계별 전략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56345"/>
          <a:ext cx="5638800" cy="37719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619250"/>
            <a:ext cx="5334000" cy="541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38925" y="1851570"/>
            <a:ext cx="1758999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FFFFFF"/>
                </a:solidFill>
                <a:latin typeface="Microsoft YaHei"/>
              </a:rPr>
              <a:t>단계별 추진 전략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2381250"/>
            <a:ext cx="4857750" cy="942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2275" y="2514600"/>
            <a:ext cx="352425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39000" y="2491531"/>
            <a:ext cx="2446615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0F2FE"/>
                </a:solidFill>
                <a:latin typeface="Inter"/>
              </a:rPr>
              <a:t>1</a:t>
            </a:r>
            <a:r>
              <a:rPr sz="1320" b="1" i="0">
                <a:solidFill>
                  <a:srgbClr val="E0F2FE"/>
                </a:solidFill>
                <a:latin typeface="Microsoft YaHei"/>
              </a:rPr>
              <a:t>단계</a:t>
            </a:r>
            <a:r>
              <a:rPr sz="1320" b="1" i="0">
                <a:solidFill>
                  <a:srgbClr val="E0F2FE"/>
                </a:solidFill>
                <a:latin typeface="Inter"/>
              </a:rPr>
              <a:t>: </a:t>
            </a:r>
            <a:r>
              <a:rPr sz="1320" b="1" i="0">
                <a:solidFill>
                  <a:srgbClr val="E0F2FE"/>
                </a:solidFill>
                <a:latin typeface="Microsoft YaHei"/>
              </a:rPr>
              <a:t>예비창업패키지 </a:t>
            </a:r>
            <a:r>
              <a:rPr sz="1320" b="1" i="0">
                <a:solidFill>
                  <a:srgbClr val="E0F2FE"/>
                </a:solidFill>
                <a:latin typeface="Inter"/>
              </a:rPr>
              <a:t>(</a:t>
            </a:r>
            <a:r>
              <a:rPr sz="1320" b="1" i="0">
                <a:solidFill>
                  <a:srgbClr val="10B981"/>
                </a:solidFill>
                <a:latin typeface="Inter"/>
              </a:rPr>
              <a:t> 10</a:t>
            </a:r>
            <a:r>
              <a:rPr sz="1320" b="1" i="0">
                <a:solidFill>
                  <a:srgbClr val="10B981"/>
                </a:solidFill>
                <a:latin typeface="Microsoft YaHei"/>
              </a:rPr>
              <a:t>개월</a:t>
            </a:r>
            <a:r>
              <a:rPr sz="1320" b="1" i="0">
                <a:solidFill>
                  <a:srgbClr val="E0F2FE"/>
                </a:solidFill>
                <a:latin typeface="Inter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0" y="2804517"/>
            <a:ext cx="4070717" cy="3677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BD5E1"/>
                </a:solidFill>
                <a:latin typeface="Microsoft YaHei"/>
              </a:rPr>
              <a:t>소형 프로토타입 개발</a:t>
            </a:r>
            <a:r>
              <a:rPr sz="1080" b="0" i="0">
                <a:solidFill>
                  <a:srgbClr val="CBD5E1"/>
                </a:solidFill>
                <a:latin typeface="Inter"/>
              </a:rPr>
              <a:t>, 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메카넘휠 </a:t>
            </a:r>
            <a:r>
              <a:rPr sz="1080" b="0" i="0">
                <a:solidFill>
                  <a:srgbClr val="CBD5E1"/>
                </a:solidFill>
                <a:latin typeface="Inter"/>
              </a:rPr>
              <a:t>vs 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대안 휠 비교 테스트</a:t>
            </a:r>
            <a:r>
              <a:rPr sz="1080" b="0" i="0">
                <a:solidFill>
                  <a:srgbClr val="CBD5E1"/>
                </a:solidFill>
                <a:latin typeface="Inter"/>
              </a:rPr>
              <a:t>, 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시설원예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환경 </a:t>
            </a:r>
            <a:r>
              <a:rPr sz="1080" b="0" i="0">
                <a:solidFill>
                  <a:srgbClr val="CBD5E1"/>
                </a:solidFill>
                <a:latin typeface="Inter"/>
              </a:rPr>
              <a:t>1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차 실증 </a:t>
            </a:r>
            <a:r>
              <a:rPr sz="1080" b="0" i="0">
                <a:solidFill>
                  <a:srgbClr val="CBD5E1"/>
                </a:solidFill>
                <a:latin typeface="Inter"/>
              </a:rPr>
              <a:t>(</a:t>
            </a:r>
            <a:r>
              <a:rPr sz="1080" b="1" i="0">
                <a:solidFill>
                  <a:srgbClr val="4DA7FF"/>
                </a:solidFill>
                <a:latin typeface="Microsoft YaHei"/>
              </a:rPr>
              <a:t>최대 </a:t>
            </a:r>
            <a:r>
              <a:rPr sz="1080" b="1" i="0">
                <a:solidFill>
                  <a:srgbClr val="4DA7FF"/>
                </a:solidFill>
                <a:latin typeface="Inter"/>
              </a:rPr>
              <a:t>1</a:t>
            </a:r>
            <a:r>
              <a:rPr sz="1080" b="1" i="0">
                <a:solidFill>
                  <a:srgbClr val="4DA7FF"/>
                </a:solidFill>
                <a:latin typeface="Microsoft YaHei"/>
              </a:rPr>
              <a:t>억원</a:t>
            </a:r>
            <a:r>
              <a:rPr sz="1080" b="0" i="0">
                <a:solidFill>
                  <a:srgbClr val="CBD5E1"/>
                </a:solidFill>
                <a:latin typeface="Inter"/>
              </a:rPr>
              <a:t>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3467100"/>
            <a:ext cx="4857750" cy="942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1800" y="3609975"/>
            <a:ext cx="3429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39000" y="3578125"/>
            <a:ext cx="2379791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0F2FE"/>
                </a:solidFill>
                <a:latin typeface="Inter"/>
              </a:rPr>
              <a:t>2</a:t>
            </a:r>
            <a:r>
              <a:rPr sz="1320" b="1" i="0">
                <a:solidFill>
                  <a:srgbClr val="E0F2FE"/>
                </a:solidFill>
                <a:latin typeface="Microsoft YaHei"/>
              </a:rPr>
              <a:t>단계</a:t>
            </a:r>
            <a:r>
              <a:rPr sz="1320" b="1" i="0">
                <a:solidFill>
                  <a:srgbClr val="E0F2FE"/>
                </a:solidFill>
                <a:latin typeface="Inter"/>
              </a:rPr>
              <a:t>: </a:t>
            </a:r>
            <a:r>
              <a:rPr sz="1320" b="1" i="0">
                <a:solidFill>
                  <a:srgbClr val="E0F2FE"/>
                </a:solidFill>
                <a:latin typeface="Microsoft YaHei"/>
              </a:rPr>
              <a:t>초기창업패키지 </a:t>
            </a:r>
            <a:r>
              <a:rPr sz="1320" b="1" i="0">
                <a:solidFill>
                  <a:srgbClr val="E0F2FE"/>
                </a:solidFill>
                <a:latin typeface="Inter"/>
              </a:rPr>
              <a:t>(</a:t>
            </a:r>
            <a:r>
              <a:rPr sz="1320" b="1" i="0">
                <a:solidFill>
                  <a:srgbClr val="10B981"/>
                </a:solidFill>
                <a:latin typeface="Inter"/>
              </a:rPr>
              <a:t> 1-2</a:t>
            </a:r>
            <a:r>
              <a:rPr sz="1320" b="1" i="0">
                <a:solidFill>
                  <a:srgbClr val="10B981"/>
                </a:solidFill>
                <a:latin typeface="Microsoft YaHei"/>
              </a:rPr>
              <a:t>년</a:t>
            </a:r>
            <a:r>
              <a:rPr sz="1320" b="1" i="0">
                <a:solidFill>
                  <a:srgbClr val="E0F2FE"/>
                </a:solidFill>
                <a:latin typeface="Inter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0" y="3891111"/>
            <a:ext cx="4179212" cy="3677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BD5E1"/>
                </a:solidFill>
                <a:latin typeface="Microsoft YaHei"/>
              </a:rPr>
              <a:t>노지 환경 적응 휠 시스템 고도화</a:t>
            </a:r>
            <a:r>
              <a:rPr sz="1080" b="0" i="0">
                <a:solidFill>
                  <a:srgbClr val="CBD5E1"/>
                </a:solidFill>
                <a:latin typeface="Inter"/>
              </a:rPr>
              <a:t>, 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한국형 작물</a:t>
            </a:r>
            <a:r>
              <a:rPr sz="1080" b="0" i="0">
                <a:solidFill>
                  <a:srgbClr val="CBD5E1"/>
                </a:solidFill>
                <a:latin typeface="Inter"/>
              </a:rPr>
              <a:t>/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잡초 </a:t>
            </a:r>
            <a:r>
              <a:rPr sz="1080" b="0" i="0">
                <a:solidFill>
                  <a:srgbClr val="CBD5E1"/>
                </a:solidFill>
                <a:latin typeface="Inter"/>
              </a:rPr>
              <a:t>AI 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모델 학습</a:t>
            </a:r>
            <a:r>
              <a:rPr sz="1080" b="0" i="0">
                <a:solidFill>
                  <a:srgbClr val="CBD5E1"/>
                </a:solidFill>
                <a:latin typeface="Inter"/>
              </a:rPr>
              <a:t>, 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농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업기술센터 협력 실증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925" y="4552950"/>
            <a:ext cx="4857750" cy="942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1800" y="4695825"/>
            <a:ext cx="3429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39000" y="4664719"/>
            <a:ext cx="1750546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0F2FE"/>
                </a:solidFill>
                <a:latin typeface="Inter"/>
              </a:rPr>
              <a:t>3</a:t>
            </a:r>
            <a:r>
              <a:rPr sz="1320" b="1" i="0">
                <a:solidFill>
                  <a:srgbClr val="E0F2FE"/>
                </a:solidFill>
                <a:latin typeface="Microsoft YaHei"/>
              </a:rPr>
              <a:t>단계</a:t>
            </a:r>
            <a:r>
              <a:rPr sz="1320" b="1" i="0">
                <a:solidFill>
                  <a:srgbClr val="E0F2FE"/>
                </a:solidFill>
                <a:latin typeface="Inter"/>
              </a:rPr>
              <a:t>: </a:t>
            </a:r>
            <a:r>
              <a:rPr sz="1320" b="1" i="0">
                <a:solidFill>
                  <a:srgbClr val="E0F2FE"/>
                </a:solidFill>
                <a:latin typeface="Microsoft YaHei"/>
              </a:rPr>
              <a:t>상용화 </a:t>
            </a:r>
            <a:r>
              <a:rPr sz="1320" b="1" i="0">
                <a:solidFill>
                  <a:srgbClr val="E0F2FE"/>
                </a:solidFill>
                <a:latin typeface="Inter"/>
              </a:rPr>
              <a:t>(</a:t>
            </a:r>
            <a:r>
              <a:rPr sz="1320" b="1" i="0">
                <a:solidFill>
                  <a:srgbClr val="10B981"/>
                </a:solidFill>
                <a:latin typeface="Inter"/>
              </a:rPr>
              <a:t> 2-3</a:t>
            </a:r>
            <a:r>
              <a:rPr sz="1320" b="1" i="0">
                <a:solidFill>
                  <a:srgbClr val="10B981"/>
                </a:solidFill>
                <a:latin typeface="Microsoft YaHei"/>
              </a:rPr>
              <a:t>년</a:t>
            </a:r>
            <a:r>
              <a:rPr sz="1320" b="1" i="0">
                <a:solidFill>
                  <a:srgbClr val="E0F2FE"/>
                </a:solidFill>
                <a:latin typeface="Inter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4977705"/>
            <a:ext cx="4201685" cy="3677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BD5E1"/>
                </a:solidFill>
                <a:latin typeface="Microsoft YaHei"/>
              </a:rPr>
              <a:t>양산 체계 구축</a:t>
            </a:r>
            <a:r>
              <a:rPr sz="1080" b="0" i="0">
                <a:solidFill>
                  <a:srgbClr val="CBD5E1"/>
                </a:solidFill>
                <a:latin typeface="Inter"/>
              </a:rPr>
              <a:t>, RaaS 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서비스 모델 런칭</a:t>
            </a:r>
            <a:r>
              <a:rPr sz="1080" b="0" i="0">
                <a:solidFill>
                  <a:srgbClr val="CBD5E1"/>
                </a:solidFill>
                <a:latin typeface="Inter"/>
              </a:rPr>
              <a:t>, 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친환경</a:t>
            </a:r>
            <a:r>
              <a:rPr sz="1080" b="0" i="0">
                <a:solidFill>
                  <a:srgbClr val="CBD5E1"/>
                </a:solidFill>
                <a:latin typeface="Inter"/>
              </a:rPr>
              <a:t>/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유기농 농가 대상 판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매 및 서비스 확대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8925" y="5715000"/>
            <a:ext cx="4857750" cy="107632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00850" y="5894189"/>
            <a:ext cx="103480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0B981"/>
                </a:solidFill>
                <a:latin typeface="Microsoft YaHei"/>
              </a:rPr>
              <a:t>핵심 성공 요소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0850" y="6227564"/>
            <a:ext cx="4566314" cy="36775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BD5E1"/>
                </a:solidFill>
                <a:latin typeface="Microsoft YaHei"/>
              </a:rPr>
              <a:t>메카넘휠 기술 검증을 통한 차별화 확보와 단계적 시장 진입으로 리스크 최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소화 및 지속 성장 기반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78064" y="228600"/>
            <a:ext cx="3635871" cy="428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8" b="1" i="0">
                <a:solidFill>
                  <a:srgbClr val="FFFFFF"/>
                </a:solidFill>
                <a:latin typeface="Microsoft YaHei"/>
              </a:rPr>
              <a:t>예비창업패키지 적합성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78772" y="199132"/>
            <a:ext cx="1834306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4DA7FF"/>
                </a:solidFill>
                <a:latin typeface="Microsoft YaHei"/>
              </a:rPr>
              <a:t>지원 자격 충족 현황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38175"/>
            <a:ext cx="5334000" cy="1647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6100" y="895350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00325" y="1485007"/>
            <a:ext cx="1352550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FFFFFF"/>
                </a:solidFill>
                <a:latin typeface="Microsoft YaHei"/>
              </a:rPr>
              <a:t>혁신적 기술 보유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6938" y="1856482"/>
            <a:ext cx="3227903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0B981"/>
                </a:solidFill>
                <a:latin typeface="Microsoft YaHei"/>
              </a:rPr>
              <a:t>충족</a:t>
            </a:r>
            <a:r>
              <a:rPr sz="1080" b="0" i="0">
                <a:solidFill>
                  <a:srgbClr val="E0F2FE"/>
                </a:solidFill>
                <a:latin typeface="Inter"/>
              </a:rPr>
              <a:t> - 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레이저</a:t>
            </a:r>
            <a:r>
              <a:rPr sz="1080" b="0" i="0">
                <a:solidFill>
                  <a:srgbClr val="E0F2FE"/>
                </a:solidFill>
                <a:latin typeface="Inter"/>
              </a:rPr>
              <a:t>+AI 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융합 기술로 차별화된 솔루션 제공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638175"/>
            <a:ext cx="5334000" cy="1647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2525" y="895350"/>
            <a:ext cx="28575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39125" y="1485007"/>
            <a:ext cx="1352550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FFFFFF"/>
                </a:solidFill>
                <a:latin typeface="Microsoft YaHei"/>
              </a:rPr>
              <a:t>사업 모델 혁신성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4613" y="1856482"/>
            <a:ext cx="2650003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0B981"/>
                </a:solidFill>
                <a:latin typeface="Microsoft YaHei"/>
              </a:rPr>
              <a:t>충족</a:t>
            </a:r>
            <a:r>
              <a:rPr sz="1080" b="0" i="0">
                <a:solidFill>
                  <a:srgbClr val="E0F2FE"/>
                </a:solidFill>
                <a:latin typeface="Inter"/>
              </a:rPr>
              <a:t> - RaaS 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모델과 다양한 수익 구조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764" y="2900511"/>
            <a:ext cx="1578322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4DA7FF"/>
                </a:solidFill>
                <a:latin typeface="Microsoft YaHei"/>
              </a:rPr>
              <a:t>예상 평가 포인트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343275"/>
            <a:ext cx="10972800" cy="15144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3581400"/>
            <a:ext cx="5172075" cy="4381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3714750"/>
            <a:ext cx="219075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5697" y="3700611"/>
            <a:ext cx="3070919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E0F2FE"/>
                </a:solidFill>
                <a:latin typeface="Microsoft YaHei"/>
              </a:rPr>
              <a:t>정부 정책 부합성 </a:t>
            </a:r>
            <a:r>
              <a:rPr sz="1019" b="0" i="0">
                <a:solidFill>
                  <a:srgbClr val="E0F2FE"/>
                </a:solidFill>
                <a:latin typeface="Inter"/>
              </a:rPr>
              <a:t>- </a:t>
            </a:r>
            <a:r>
              <a:rPr sz="1019" b="0" i="0">
                <a:solidFill>
                  <a:srgbClr val="E0F2FE"/>
                </a:solidFill>
                <a:latin typeface="Microsoft YaHei"/>
              </a:rPr>
              <a:t>스마트농업</a:t>
            </a:r>
            <a:r>
              <a:rPr sz="1019" b="0" i="0">
                <a:solidFill>
                  <a:srgbClr val="E0F2FE"/>
                </a:solidFill>
                <a:latin typeface="Inter"/>
              </a:rPr>
              <a:t>, </a:t>
            </a:r>
            <a:r>
              <a:rPr sz="1019" b="0" i="0">
                <a:solidFill>
                  <a:srgbClr val="E0F2FE"/>
                </a:solidFill>
                <a:latin typeface="Microsoft YaHei"/>
              </a:rPr>
              <a:t>탄소중립 정책과 연계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581400"/>
            <a:ext cx="5172075" cy="4381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3724275"/>
            <a:ext cx="219075" cy="1809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20172" y="3700611"/>
            <a:ext cx="3235969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E0F2FE"/>
                </a:solidFill>
                <a:latin typeface="Microsoft YaHei"/>
              </a:rPr>
              <a:t>명확한 시장 수요 </a:t>
            </a:r>
            <a:r>
              <a:rPr sz="1019" b="0" i="0">
                <a:solidFill>
                  <a:srgbClr val="E0F2FE"/>
                </a:solidFill>
                <a:latin typeface="Inter"/>
              </a:rPr>
              <a:t>- </a:t>
            </a:r>
            <a:r>
              <a:rPr sz="1019" b="0" i="0">
                <a:solidFill>
                  <a:srgbClr val="E0F2FE"/>
                </a:solidFill>
                <a:latin typeface="Microsoft YaHei"/>
              </a:rPr>
              <a:t>농업 노동력 부족과 친환경 농업 확대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4171950"/>
            <a:ext cx="5172075" cy="4381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025" y="4305300"/>
            <a:ext cx="2286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04776" y="4294882"/>
            <a:ext cx="2811065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E0F2FE"/>
                </a:solidFill>
                <a:latin typeface="Microsoft YaHei"/>
              </a:rPr>
              <a:t>기술 차별화 </a:t>
            </a:r>
            <a:r>
              <a:rPr sz="1019" b="0" i="0">
                <a:solidFill>
                  <a:srgbClr val="E0F2FE"/>
                </a:solidFill>
                <a:latin typeface="Inter"/>
              </a:rPr>
              <a:t>- </a:t>
            </a:r>
            <a:r>
              <a:rPr sz="1019" b="0" i="0">
                <a:solidFill>
                  <a:srgbClr val="E0F2FE"/>
                </a:solidFill>
                <a:latin typeface="Microsoft YaHei"/>
              </a:rPr>
              <a:t>국내 최초 레이저 제초 로봇 상용화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4171950"/>
            <a:ext cx="5172075" cy="4381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4305300"/>
            <a:ext cx="219075" cy="190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620172" y="4294882"/>
            <a:ext cx="2552997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E0F2FE"/>
                </a:solidFill>
                <a:latin typeface="Microsoft YaHei"/>
              </a:rPr>
              <a:t>확장성 </a:t>
            </a:r>
            <a:r>
              <a:rPr sz="1019" b="0" i="0">
                <a:solidFill>
                  <a:srgbClr val="E0F2FE"/>
                </a:solidFill>
                <a:latin typeface="Inter"/>
              </a:rPr>
              <a:t>- </a:t>
            </a:r>
            <a:r>
              <a:rPr sz="1019" b="0" i="0">
                <a:solidFill>
                  <a:srgbClr val="E0F2FE"/>
                </a:solidFill>
                <a:latin typeface="Microsoft YaHei"/>
              </a:rPr>
              <a:t>동남아</a:t>
            </a:r>
            <a:r>
              <a:rPr sz="1019" b="0" i="0">
                <a:solidFill>
                  <a:srgbClr val="E0F2FE"/>
                </a:solidFill>
                <a:latin typeface="Inter"/>
              </a:rPr>
              <a:t>, </a:t>
            </a:r>
            <a:r>
              <a:rPr sz="1019" b="0" i="0">
                <a:solidFill>
                  <a:srgbClr val="E0F2FE"/>
                </a:solidFill>
                <a:latin typeface="Microsoft YaHei"/>
              </a:rPr>
              <a:t>유럽 등 글로벌 수출 가능성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3474" y="5470177"/>
            <a:ext cx="1365051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4DA7FF"/>
                </a:solidFill>
                <a:latin typeface="Microsoft YaHei"/>
              </a:rPr>
              <a:t>핵심 어필 요소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600" y="5915025"/>
            <a:ext cx="10972800" cy="15906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7725" y="6153150"/>
            <a:ext cx="3400425" cy="11144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09825" y="6305550"/>
            <a:ext cx="276225" cy="2857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189857" y="6689377"/>
            <a:ext cx="712886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</a:rPr>
              <a:t>사회적 가치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00550" y="6153150"/>
            <a:ext cx="3400425" cy="11144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53125" y="6296025"/>
            <a:ext cx="285750" cy="29527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808017" y="6689377"/>
            <a:ext cx="575816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</a:rPr>
              <a:t>기술 혁신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43850" y="6153150"/>
            <a:ext cx="3400425" cy="11144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67850" y="6296025"/>
            <a:ext cx="342900" cy="29527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289107" y="6689377"/>
            <a:ext cx="712886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</a:rPr>
              <a:t>일자리 창출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49204" y="228600"/>
            <a:ext cx="3493442" cy="428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8" b="1" i="0">
                <a:solidFill>
                  <a:srgbClr val="FFFFFF"/>
                </a:solidFill>
                <a:latin typeface="Microsoft YaHei"/>
              </a:rPr>
              <a:t>재무 전망 및 투자 계획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56345"/>
          <a:ext cx="5486400" cy="37719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619250"/>
            <a:ext cx="5486400" cy="6076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86525" y="1851570"/>
            <a:ext cx="2329457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FFFFFF"/>
                </a:solidFill>
                <a:latin typeface="Microsoft YaHei"/>
              </a:rPr>
              <a:t>투자 계획 및 자금 조달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2381250"/>
            <a:ext cx="5010150" cy="7334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9875" y="2505075"/>
            <a:ext cx="352425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086600" y="2491531"/>
            <a:ext cx="1715839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0F2FE"/>
                </a:solidFill>
                <a:latin typeface="Inter"/>
              </a:rPr>
              <a:t>1</a:t>
            </a:r>
            <a:r>
              <a:rPr sz="1320" b="1" i="0">
                <a:solidFill>
                  <a:srgbClr val="E0F2FE"/>
                </a:solidFill>
                <a:latin typeface="Microsoft YaHei"/>
              </a:rPr>
              <a:t>단계</a:t>
            </a:r>
            <a:r>
              <a:rPr sz="1320" b="1" i="0">
                <a:solidFill>
                  <a:srgbClr val="E0F2FE"/>
                </a:solidFill>
                <a:latin typeface="Inter"/>
              </a:rPr>
              <a:t>: </a:t>
            </a:r>
            <a:r>
              <a:rPr sz="1320" b="1" i="0">
                <a:solidFill>
                  <a:srgbClr val="E0F2FE"/>
                </a:solidFill>
                <a:latin typeface="Microsoft YaHei"/>
              </a:rPr>
              <a:t>프로토타입 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804517"/>
            <a:ext cx="2817733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BD5E1"/>
                </a:solidFill>
                <a:latin typeface="Microsoft YaHei"/>
              </a:rPr>
              <a:t>예비창업패키지 </a:t>
            </a:r>
            <a:r>
              <a:rPr sz="1080" b="1" i="0">
                <a:solidFill>
                  <a:srgbClr val="10B981"/>
                </a:solidFill>
                <a:latin typeface="Inter"/>
              </a:rPr>
              <a:t>5</a:t>
            </a:r>
            <a:r>
              <a:rPr sz="1080" b="1" i="0">
                <a:solidFill>
                  <a:srgbClr val="10B981"/>
                </a:solidFill>
                <a:latin typeface="Microsoft YaHei"/>
              </a:rPr>
              <a:t>천만원</a:t>
            </a:r>
            <a:r>
              <a:rPr sz="1080" b="0" i="0">
                <a:solidFill>
                  <a:srgbClr val="CBD5E1"/>
                </a:solidFill>
                <a:latin typeface="Inter"/>
              </a:rPr>
              <a:t> + 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자체자금 </a:t>
            </a:r>
            <a:r>
              <a:rPr sz="1080" b="1" i="0">
                <a:solidFill>
                  <a:srgbClr val="10B981"/>
                </a:solidFill>
                <a:latin typeface="Inter"/>
              </a:rPr>
              <a:t>3</a:t>
            </a:r>
            <a:r>
              <a:rPr sz="1080" b="1" i="0">
                <a:solidFill>
                  <a:srgbClr val="10B981"/>
                </a:solidFill>
                <a:latin typeface="Microsoft YaHei"/>
              </a:rPr>
              <a:t>천만원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3257550"/>
            <a:ext cx="5010150" cy="7334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3390900"/>
            <a:ext cx="3429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86600" y="3372296"/>
            <a:ext cx="1414016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0F2FE"/>
                </a:solidFill>
                <a:latin typeface="Inter"/>
              </a:rPr>
              <a:t>2</a:t>
            </a:r>
            <a:r>
              <a:rPr sz="1320" b="1" i="0">
                <a:solidFill>
                  <a:srgbClr val="E0F2FE"/>
                </a:solidFill>
                <a:latin typeface="Microsoft YaHei"/>
              </a:rPr>
              <a:t>단계</a:t>
            </a:r>
            <a:r>
              <a:rPr sz="1320" b="1" i="0">
                <a:solidFill>
                  <a:srgbClr val="E0F2FE"/>
                </a:solidFill>
                <a:latin typeface="Inter"/>
              </a:rPr>
              <a:t>: </a:t>
            </a:r>
            <a:r>
              <a:rPr sz="1320" b="1" i="0">
                <a:solidFill>
                  <a:srgbClr val="E0F2FE"/>
                </a:solidFill>
                <a:latin typeface="Microsoft YaHei"/>
              </a:rPr>
              <a:t>기술 고도화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685282"/>
            <a:ext cx="2541508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BD5E1"/>
                </a:solidFill>
                <a:latin typeface="Microsoft YaHei"/>
              </a:rPr>
              <a:t>초기창업패키지 </a:t>
            </a:r>
            <a:r>
              <a:rPr sz="1080" b="1" i="0">
                <a:solidFill>
                  <a:srgbClr val="10B981"/>
                </a:solidFill>
                <a:latin typeface="Inter"/>
              </a:rPr>
              <a:t>2</a:t>
            </a:r>
            <a:r>
              <a:rPr sz="1080" b="1" i="0">
                <a:solidFill>
                  <a:srgbClr val="10B981"/>
                </a:solidFill>
                <a:latin typeface="Microsoft YaHei"/>
              </a:rPr>
              <a:t>억원</a:t>
            </a:r>
            <a:r>
              <a:rPr sz="1080" b="0" i="0">
                <a:solidFill>
                  <a:srgbClr val="CBD5E1"/>
                </a:solidFill>
                <a:latin typeface="Inter"/>
              </a:rPr>
              <a:t> + 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엔젤투자 </a:t>
            </a:r>
            <a:r>
              <a:rPr sz="1080" b="1" i="0">
                <a:solidFill>
                  <a:srgbClr val="10B981"/>
                </a:solidFill>
                <a:latin typeface="Inter"/>
              </a:rPr>
              <a:t>5</a:t>
            </a:r>
            <a:r>
              <a:rPr sz="1080" b="1" i="0">
                <a:solidFill>
                  <a:srgbClr val="10B981"/>
                </a:solidFill>
                <a:latin typeface="Microsoft YaHei"/>
              </a:rPr>
              <a:t>억원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4143375"/>
            <a:ext cx="5010150" cy="7334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0" y="4276725"/>
            <a:ext cx="3429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086600" y="4253061"/>
            <a:ext cx="1623863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0F2FE"/>
                </a:solidFill>
                <a:latin typeface="Inter"/>
              </a:rPr>
              <a:t>3</a:t>
            </a:r>
            <a:r>
              <a:rPr sz="1320" b="1" i="0">
                <a:solidFill>
                  <a:srgbClr val="E0F2FE"/>
                </a:solidFill>
                <a:latin typeface="Microsoft YaHei"/>
              </a:rPr>
              <a:t>단계</a:t>
            </a:r>
            <a:r>
              <a:rPr sz="1320" b="1" i="0">
                <a:solidFill>
                  <a:srgbClr val="E0F2FE"/>
                </a:solidFill>
                <a:latin typeface="Inter"/>
              </a:rPr>
              <a:t>: </a:t>
            </a:r>
            <a:r>
              <a:rPr sz="1320" b="1" i="0">
                <a:solidFill>
                  <a:srgbClr val="E0F2FE"/>
                </a:solidFill>
                <a:latin typeface="Microsoft YaHei"/>
              </a:rPr>
              <a:t>상용화 및 양산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4566046"/>
            <a:ext cx="2247721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CBD5E1"/>
                </a:solidFill>
                <a:latin typeface="Microsoft YaHei"/>
              </a:rPr>
              <a:t>시리즈</a:t>
            </a:r>
            <a:r>
              <a:rPr sz="1080" b="0" i="0">
                <a:solidFill>
                  <a:srgbClr val="CBD5E1"/>
                </a:solidFill>
                <a:latin typeface="Inter"/>
              </a:rPr>
              <a:t>A </a:t>
            </a:r>
            <a:r>
              <a:rPr sz="1080" b="1" i="0">
                <a:solidFill>
                  <a:srgbClr val="10B981"/>
                </a:solidFill>
                <a:latin typeface="Inter"/>
              </a:rPr>
              <a:t> 20</a:t>
            </a:r>
            <a:r>
              <a:rPr sz="1080" b="1" i="0">
                <a:solidFill>
                  <a:srgbClr val="10B981"/>
                </a:solidFill>
                <a:latin typeface="Microsoft YaHei"/>
              </a:rPr>
              <a:t>억원</a:t>
            </a:r>
            <a:r>
              <a:rPr sz="1080" b="0" i="0">
                <a:solidFill>
                  <a:srgbClr val="CBD5E1"/>
                </a:solidFill>
                <a:latin typeface="Inter"/>
              </a:rPr>
              <a:t> + 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정부</a:t>
            </a:r>
            <a:r>
              <a:rPr sz="1080" b="0" i="0">
                <a:solidFill>
                  <a:srgbClr val="CBD5E1"/>
                </a:solidFill>
                <a:latin typeface="Inter"/>
              </a:rPr>
              <a:t>R&amp;D </a:t>
            </a:r>
            <a:r>
              <a:rPr sz="1080" b="1" i="0">
                <a:solidFill>
                  <a:srgbClr val="10B981"/>
                </a:solidFill>
                <a:latin typeface="Inter"/>
              </a:rPr>
              <a:t> 10</a:t>
            </a:r>
            <a:r>
              <a:rPr sz="1080" b="1" i="0">
                <a:solidFill>
                  <a:srgbClr val="10B981"/>
                </a:solidFill>
                <a:latin typeface="Microsoft YaHei"/>
              </a:rPr>
              <a:t>억원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5019675"/>
            <a:ext cx="5010150" cy="7334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9400" y="5153025"/>
            <a:ext cx="342900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86600" y="5133826"/>
            <a:ext cx="710058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E0F2FE"/>
                </a:solidFill>
                <a:latin typeface="Microsoft YaHei"/>
              </a:rPr>
              <a:t>수익 전망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5446811"/>
            <a:ext cx="3107650" cy="1619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59E0B"/>
                </a:solidFill>
                <a:latin typeface="Inter"/>
              </a:rPr>
              <a:t>2027</a:t>
            </a:r>
            <a:r>
              <a:rPr sz="1080" b="1" i="0">
                <a:solidFill>
                  <a:srgbClr val="F59E0B"/>
                </a:solidFill>
                <a:latin typeface="Microsoft YaHei"/>
              </a:rPr>
              <a:t>년</a:t>
            </a:r>
            <a:r>
              <a:rPr sz="1080" b="0" i="0">
                <a:solidFill>
                  <a:srgbClr val="CBD5E1"/>
                </a:solidFill>
                <a:latin typeface="Inter"/>
              </a:rPr>
              <a:t> 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매출 </a:t>
            </a:r>
            <a:r>
              <a:rPr sz="1080" b="0" i="0">
                <a:solidFill>
                  <a:srgbClr val="CBD5E1"/>
                </a:solidFill>
                <a:latin typeface="Inter"/>
              </a:rPr>
              <a:t>50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억원</a:t>
            </a:r>
            <a:r>
              <a:rPr sz="1080" b="0" i="0">
                <a:solidFill>
                  <a:srgbClr val="CBD5E1"/>
                </a:solidFill>
                <a:latin typeface="Inter"/>
              </a:rPr>
              <a:t>, </a:t>
            </a:r>
            <a:r>
              <a:rPr sz="1080" b="1" i="0">
                <a:solidFill>
                  <a:srgbClr val="F59E0B"/>
                </a:solidFill>
                <a:latin typeface="Inter"/>
              </a:rPr>
              <a:t> 2029</a:t>
            </a:r>
            <a:r>
              <a:rPr sz="1080" b="1" i="0">
                <a:solidFill>
                  <a:srgbClr val="F59E0B"/>
                </a:solidFill>
                <a:latin typeface="Microsoft YaHei"/>
              </a:rPr>
              <a:t>년</a:t>
            </a:r>
            <a:r>
              <a:rPr sz="1080" b="0" i="0">
                <a:solidFill>
                  <a:srgbClr val="CBD5E1"/>
                </a:solidFill>
                <a:latin typeface="Inter"/>
              </a:rPr>
              <a:t> 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매출 </a:t>
            </a:r>
            <a:r>
              <a:rPr sz="1080" b="0" i="0">
                <a:solidFill>
                  <a:srgbClr val="CBD5E1"/>
                </a:solidFill>
                <a:latin typeface="Inter"/>
              </a:rPr>
              <a:t>200</a:t>
            </a:r>
            <a:r>
              <a:rPr sz="1080" b="0" i="0">
                <a:solidFill>
                  <a:srgbClr val="CBD5E1"/>
                </a:solidFill>
                <a:latin typeface="Microsoft YaHei"/>
              </a:rPr>
              <a:t>억원 목표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86525" y="5981700"/>
            <a:ext cx="5010150" cy="14763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48450" y="6157466"/>
            <a:ext cx="103480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10B981"/>
                </a:solidFill>
                <a:latin typeface="Microsoft YaHei"/>
              </a:rPr>
              <a:t>자금 조달 전략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48450" y="6490841"/>
            <a:ext cx="369439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4DA7FF"/>
                </a:solidFill>
                <a:latin typeface="Microsoft YaHei"/>
              </a:rPr>
              <a:t>정부지원</a:t>
            </a:r>
            <a:r>
              <a:rPr sz="1019" b="1" i="0">
                <a:solidFill>
                  <a:srgbClr val="4DA7FF"/>
                </a:solidFill>
                <a:latin typeface="Inter"/>
              </a:rPr>
              <a:t>:</a:t>
            </a:r>
            <a:r>
              <a:rPr sz="1019" b="0" i="0">
                <a:solidFill>
                  <a:srgbClr val="CBD5E1"/>
                </a:solidFill>
                <a:latin typeface="Inter"/>
              </a:rPr>
              <a:t> </a:t>
            </a:r>
            <a:r>
              <a:rPr sz="1019" b="0" i="0">
                <a:solidFill>
                  <a:srgbClr val="CBD5E1"/>
                </a:solidFill>
                <a:latin typeface="Microsoft YaHei"/>
              </a:rPr>
              <a:t>예비창업패키지 </a:t>
            </a:r>
            <a:r>
              <a:rPr sz="1019" b="0" i="0">
                <a:solidFill>
                  <a:srgbClr val="CBD5E1"/>
                </a:solidFill>
                <a:latin typeface="Cambria Math"/>
              </a:rPr>
              <a:t>→ </a:t>
            </a:r>
            <a:r>
              <a:rPr sz="1019" b="0" i="0">
                <a:solidFill>
                  <a:srgbClr val="CBD5E1"/>
                </a:solidFill>
                <a:latin typeface="Microsoft YaHei"/>
              </a:rPr>
              <a:t>초기창업패키지 </a:t>
            </a:r>
            <a:r>
              <a:rPr sz="1019" b="0" i="0">
                <a:solidFill>
                  <a:srgbClr val="CBD5E1"/>
                </a:solidFill>
                <a:latin typeface="Cambria Math"/>
              </a:rPr>
              <a:t>→ </a:t>
            </a:r>
            <a:r>
              <a:rPr sz="1019" b="0" i="0">
                <a:solidFill>
                  <a:srgbClr val="CBD5E1"/>
                </a:solidFill>
                <a:latin typeface="Inter"/>
              </a:rPr>
              <a:t>R&amp;D</a:t>
            </a:r>
            <a:r>
              <a:rPr sz="1019" b="0" i="0">
                <a:solidFill>
                  <a:srgbClr val="CBD5E1"/>
                </a:solidFill>
                <a:latin typeface="Microsoft YaHei"/>
              </a:rPr>
              <a:t>과제 연계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8450" y="6761261"/>
            <a:ext cx="3078390" cy="152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4DA7FF"/>
                </a:solidFill>
                <a:latin typeface="Microsoft YaHei"/>
              </a:rPr>
              <a:t>민간투자</a:t>
            </a:r>
            <a:r>
              <a:rPr sz="1019" b="1" i="0">
                <a:solidFill>
                  <a:srgbClr val="4DA7FF"/>
                </a:solidFill>
                <a:latin typeface="Inter"/>
              </a:rPr>
              <a:t>:</a:t>
            </a:r>
            <a:r>
              <a:rPr sz="1019" b="0" i="0">
                <a:solidFill>
                  <a:srgbClr val="CBD5E1"/>
                </a:solidFill>
                <a:latin typeface="Inter"/>
              </a:rPr>
              <a:t> </a:t>
            </a:r>
            <a:r>
              <a:rPr sz="1019" b="0" i="0">
                <a:solidFill>
                  <a:srgbClr val="CBD5E1"/>
                </a:solidFill>
                <a:latin typeface="Microsoft YaHei"/>
              </a:rPr>
              <a:t>엔젤 </a:t>
            </a:r>
            <a:r>
              <a:rPr sz="1019" b="0" i="0">
                <a:solidFill>
                  <a:srgbClr val="CBD5E1"/>
                </a:solidFill>
                <a:latin typeface="Cambria Math"/>
              </a:rPr>
              <a:t>→ </a:t>
            </a:r>
            <a:r>
              <a:rPr sz="1019" b="0" i="0">
                <a:solidFill>
                  <a:srgbClr val="CBD5E1"/>
                </a:solidFill>
                <a:latin typeface="Microsoft YaHei"/>
              </a:rPr>
              <a:t>시드 </a:t>
            </a:r>
            <a:r>
              <a:rPr sz="1019" b="0" i="0">
                <a:solidFill>
                  <a:srgbClr val="CBD5E1"/>
                </a:solidFill>
                <a:latin typeface="Cambria Math"/>
              </a:rPr>
              <a:t>→ </a:t>
            </a:r>
            <a:r>
              <a:rPr sz="1019" b="0" i="0">
                <a:solidFill>
                  <a:srgbClr val="CBD5E1"/>
                </a:solidFill>
                <a:latin typeface="Microsoft YaHei"/>
              </a:rPr>
              <a:t>시리즈</a:t>
            </a:r>
            <a:r>
              <a:rPr sz="1019" b="0" i="0">
                <a:solidFill>
                  <a:srgbClr val="CBD5E1"/>
                </a:solidFill>
                <a:latin typeface="Inter"/>
              </a:rPr>
              <a:t>A </a:t>
            </a:r>
            <a:r>
              <a:rPr sz="1019" b="0" i="0">
                <a:solidFill>
                  <a:srgbClr val="CBD5E1"/>
                </a:solidFill>
                <a:latin typeface="Microsoft YaHei"/>
              </a:rPr>
              <a:t>단계별 투자 유치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01629" y="114300"/>
            <a:ext cx="2788592" cy="381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96" b="1" i="0">
                <a:solidFill>
                  <a:srgbClr val="FFFFFF"/>
                </a:solidFill>
                <a:latin typeface="Microsoft YaHei"/>
              </a:rPr>
              <a:t>팀 구성 및 실행 역량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59623" y="1189434"/>
            <a:ext cx="1072604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4DA7FF"/>
                </a:solidFill>
                <a:latin typeface="Microsoft YaHei"/>
              </a:rPr>
              <a:t>핵심 인력 구성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524000"/>
            <a:ext cx="3581400" cy="1047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8850" y="1638300"/>
            <a:ext cx="342900" cy="295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51570" y="2037159"/>
            <a:ext cx="1097309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로봇공학 전문가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389" y="2298055"/>
            <a:ext cx="2530971" cy="142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DA7FF"/>
                </a:solidFill>
                <a:latin typeface="Microsoft YaHei"/>
              </a:rPr>
              <a:t>메카넘휠 시스템</a:t>
            </a:r>
            <a:r>
              <a:rPr sz="900" b="0" i="0">
                <a:solidFill>
                  <a:srgbClr val="E0F2FE"/>
                </a:solidFill>
                <a:latin typeface="Inter"/>
              </a:rPr>
              <a:t> </a:t>
            </a:r>
            <a:r>
              <a:rPr sz="900" b="0" i="0">
                <a:solidFill>
                  <a:srgbClr val="E0F2FE"/>
                </a:solidFill>
                <a:latin typeface="Microsoft YaHei"/>
              </a:rPr>
              <a:t>설계 및 자율주행 알고리즘 개발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1524000"/>
            <a:ext cx="3581400" cy="1047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650" y="1638300"/>
            <a:ext cx="276225" cy="2952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55431" y="2037159"/>
            <a:ext cx="1480988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vo"/>
              </a:rPr>
              <a:t>AI/</a:t>
            </a:r>
            <a:r>
              <a:rPr sz="1200" b="1" i="0">
                <a:solidFill>
                  <a:srgbClr val="FFFFFF"/>
                </a:solidFill>
                <a:latin typeface="Microsoft YaHei"/>
              </a:rPr>
              <a:t>컴퓨터비전 전문가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0225" y="2298055"/>
            <a:ext cx="1968549" cy="142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DA7FF"/>
                </a:solidFill>
                <a:latin typeface="Microsoft YaHei"/>
              </a:rPr>
              <a:t>딥러닝 기반</a:t>
            </a:r>
            <a:r>
              <a:rPr sz="900" b="0" i="0">
                <a:solidFill>
                  <a:srgbClr val="E0F2FE"/>
                </a:solidFill>
                <a:latin typeface="Inter"/>
              </a:rPr>
              <a:t> </a:t>
            </a:r>
            <a:r>
              <a:rPr sz="900" b="0" i="0">
                <a:solidFill>
                  <a:srgbClr val="E0F2FE"/>
                </a:solidFill>
                <a:latin typeface="Microsoft YaHei"/>
              </a:rPr>
              <a:t>작물</a:t>
            </a:r>
            <a:r>
              <a:rPr sz="900" b="0" i="0">
                <a:solidFill>
                  <a:srgbClr val="E0F2FE"/>
                </a:solidFill>
                <a:latin typeface="Inter"/>
              </a:rPr>
              <a:t>/</a:t>
            </a:r>
            <a:r>
              <a:rPr sz="900" b="0" i="0">
                <a:solidFill>
                  <a:srgbClr val="E0F2FE"/>
                </a:solidFill>
                <a:latin typeface="Microsoft YaHei"/>
              </a:rPr>
              <a:t>잡초 구분 모델 개발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524000"/>
            <a:ext cx="3581400" cy="10477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8350" y="1647825"/>
            <a:ext cx="276225" cy="2857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95370" y="2037159"/>
            <a:ext cx="792509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농업 전문가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7316" y="2298055"/>
            <a:ext cx="2105917" cy="1428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DA7FF"/>
                </a:solidFill>
                <a:latin typeface="Microsoft YaHei"/>
              </a:rPr>
              <a:t>한국형 작물</a:t>
            </a:r>
            <a:r>
              <a:rPr sz="900" b="0" i="0">
                <a:solidFill>
                  <a:srgbClr val="E0F2FE"/>
                </a:solidFill>
                <a:latin typeface="Inter"/>
              </a:rPr>
              <a:t> </a:t>
            </a:r>
            <a:r>
              <a:rPr sz="900" b="0" i="0">
                <a:solidFill>
                  <a:srgbClr val="E0F2FE"/>
                </a:solidFill>
                <a:latin typeface="Microsoft YaHei"/>
              </a:rPr>
              <a:t>특성 분석 및 현장 적용 경험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4021" y="2884735"/>
            <a:ext cx="703957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4DA7FF"/>
                </a:solidFill>
                <a:latin typeface="Microsoft YaHei"/>
              </a:rPr>
              <a:t>핵심 역량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3219450"/>
            <a:ext cx="10972800" cy="13811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3343275"/>
            <a:ext cx="5305425" cy="5048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3429000"/>
            <a:ext cx="228600" cy="190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14276" y="3418135"/>
            <a:ext cx="887462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</a:rPr>
              <a:t>기술 융합 역량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276" y="3629471"/>
            <a:ext cx="193640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0F2FE"/>
                </a:solidFill>
                <a:latin typeface="Microsoft YaHei"/>
              </a:rPr>
              <a:t>레이저</a:t>
            </a:r>
            <a:r>
              <a:rPr sz="900" b="0" i="0">
                <a:solidFill>
                  <a:srgbClr val="E0F2FE"/>
                </a:solidFill>
                <a:latin typeface="Inter"/>
              </a:rPr>
              <a:t>, AI, </a:t>
            </a:r>
            <a:r>
              <a:rPr sz="900" b="0" i="0">
                <a:solidFill>
                  <a:srgbClr val="E0F2FE"/>
                </a:solidFill>
                <a:latin typeface="Microsoft YaHei"/>
              </a:rPr>
              <a:t>로봇공학 기술의 통합 설계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150" y="3343275"/>
            <a:ext cx="5305425" cy="5048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9350" y="3438525"/>
            <a:ext cx="219075" cy="1809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524922" y="3418135"/>
            <a:ext cx="887462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</a:rPr>
              <a:t>시장 분석 역량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922" y="3629471"/>
            <a:ext cx="179308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0F2FE"/>
                </a:solidFill>
                <a:latin typeface="Microsoft YaHei"/>
              </a:rPr>
              <a:t>농업 현장 니즈 파악 및 솔루션 개발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3962400"/>
            <a:ext cx="5305425" cy="5048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625" y="4057650"/>
            <a:ext cx="228600" cy="1809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14276" y="4039046"/>
            <a:ext cx="855017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</a:rPr>
              <a:t>네트워킹 역량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4276" y="4250382"/>
            <a:ext cx="195828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0F2FE"/>
                </a:solidFill>
                <a:latin typeface="Microsoft YaHei"/>
              </a:rPr>
              <a:t>농업기술센터</a:t>
            </a:r>
            <a:r>
              <a:rPr sz="900" b="0" i="0">
                <a:solidFill>
                  <a:srgbClr val="E0F2FE"/>
                </a:solidFill>
                <a:latin typeface="Inter"/>
              </a:rPr>
              <a:t>, </a:t>
            </a:r>
            <a:r>
              <a:rPr sz="900" b="0" i="0">
                <a:solidFill>
                  <a:srgbClr val="E0F2FE"/>
                </a:solidFill>
                <a:latin typeface="Microsoft YaHei"/>
              </a:rPr>
              <a:t>연구기관 협력 네트워크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3150" y="3962400"/>
            <a:ext cx="5305425" cy="5048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9825" y="4048125"/>
            <a:ext cx="228600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24922" y="4039046"/>
            <a:ext cx="717946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Microsoft YaHei"/>
              </a:rPr>
              <a:t>사업화 역량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4922" y="4250382"/>
            <a:ext cx="190738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0F2FE"/>
                </a:solidFill>
                <a:latin typeface="Microsoft YaHei"/>
              </a:rPr>
              <a:t>정부 지원사업 활용 및 성장 전략 수립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92650" y="4907607"/>
            <a:ext cx="1206698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4DA7FF"/>
                </a:solidFill>
                <a:latin typeface="Microsoft YaHei"/>
              </a:rPr>
              <a:t>전략적 파트너십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5248275"/>
            <a:ext cx="10972800" cy="9906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3425" y="5372100"/>
            <a:ext cx="2628900" cy="7334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33575" y="5438775"/>
            <a:ext cx="209550" cy="21907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801713" y="5724822"/>
            <a:ext cx="48756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Microsoft YaHei"/>
              </a:rPr>
              <a:t>연구기관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4808" y="5898058"/>
            <a:ext cx="192137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0F2FE"/>
                </a:solidFill>
                <a:latin typeface="Microsoft YaHei"/>
              </a:rPr>
              <a:t>농촌진흥청</a:t>
            </a:r>
            <a:r>
              <a:rPr sz="780" b="0" i="0">
                <a:solidFill>
                  <a:srgbClr val="E0F2FE"/>
                </a:solidFill>
                <a:latin typeface="Inter"/>
              </a:rPr>
              <a:t>, </a:t>
            </a:r>
            <a:r>
              <a:rPr sz="780" b="0" i="0">
                <a:solidFill>
                  <a:srgbClr val="E0F2FE"/>
                </a:solidFill>
                <a:latin typeface="Microsoft YaHei"/>
              </a:rPr>
              <a:t>농업기술센터와 기술 검증 협력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38525" y="5372100"/>
            <a:ext cx="2628900" cy="73342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638675" y="5448300"/>
            <a:ext cx="228600" cy="2095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502050" y="5724822"/>
            <a:ext cx="48756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Microsoft YaHei"/>
              </a:rPr>
              <a:t>제조업체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19686" y="5898058"/>
            <a:ext cx="1652289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0F2FE"/>
                </a:solidFill>
                <a:latin typeface="Microsoft YaHei"/>
              </a:rPr>
              <a:t>레이저 모듈</a:t>
            </a:r>
            <a:r>
              <a:rPr sz="780" b="0" i="0">
                <a:solidFill>
                  <a:srgbClr val="E0F2FE"/>
                </a:solidFill>
                <a:latin typeface="Inter"/>
              </a:rPr>
              <a:t>, </a:t>
            </a:r>
            <a:r>
              <a:rPr sz="780" b="0" i="0">
                <a:solidFill>
                  <a:srgbClr val="E0F2FE"/>
                </a:solidFill>
                <a:latin typeface="Microsoft YaHei"/>
              </a:rPr>
              <a:t>센서 부품 안정적 공급망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34100" y="5372100"/>
            <a:ext cx="2628900" cy="73342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24725" y="5438775"/>
            <a:ext cx="247650" cy="21907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202388" y="5724822"/>
            <a:ext cx="48756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Microsoft YaHei"/>
              </a:rPr>
              <a:t>농업법인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11553" y="5898058"/>
            <a:ext cx="1469231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0F2FE"/>
                </a:solidFill>
                <a:latin typeface="Microsoft YaHei"/>
              </a:rPr>
              <a:t>대규모 농업법인과 파일럿 테스트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39200" y="5372100"/>
            <a:ext cx="2628900" cy="73342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48875" y="5438775"/>
            <a:ext cx="200025" cy="21907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902725" y="5724822"/>
            <a:ext cx="48756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Microsoft YaHei"/>
              </a:rPr>
              <a:t>해외진출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98930" y="5898058"/>
            <a:ext cx="1695003" cy="1238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E0F2FE"/>
                </a:solidFill>
                <a:latin typeface="Microsoft YaHei"/>
              </a:rPr>
              <a:t>동남아시아 농업 기업과 수출 파트너십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77085" y="228600"/>
            <a:ext cx="2637829" cy="428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8" b="1" i="0">
                <a:solidFill>
                  <a:srgbClr val="FFFFFF"/>
                </a:solidFill>
                <a:latin typeface="Microsoft YaHei"/>
              </a:rPr>
              <a:t>결론 및 기대효과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38250"/>
            <a:ext cx="5334000" cy="2819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14488" y="1481583"/>
            <a:ext cx="1267866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4DA7FF"/>
                </a:solidFill>
                <a:latin typeface="Microsoft YaHei"/>
              </a:rPr>
              <a:t>핵심 성과 요약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6975" y="1476375"/>
            <a:ext cx="276225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1895475"/>
            <a:ext cx="4857750" cy="3714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1990725"/>
            <a:ext cx="219075" cy="190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6172" y="1986408"/>
            <a:ext cx="3569047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0F2FE"/>
                </a:solidFill>
                <a:latin typeface="Microsoft YaHei"/>
              </a:rPr>
              <a:t>글로벌 선도 기술</a:t>
            </a:r>
            <a:r>
              <a:rPr sz="1080" b="0" i="0">
                <a:solidFill>
                  <a:srgbClr val="E0F2FE"/>
                </a:solidFill>
                <a:latin typeface="Inter"/>
              </a:rPr>
              <a:t>(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레이저</a:t>
            </a:r>
            <a:r>
              <a:rPr sz="1080" b="0" i="0">
                <a:solidFill>
                  <a:srgbClr val="E0F2FE"/>
                </a:solidFill>
                <a:latin typeface="Inter"/>
              </a:rPr>
              <a:t>+AI)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과 메카넘휠 혁신 기술의 융합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371725"/>
            <a:ext cx="4857750" cy="3714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2476500"/>
            <a:ext cx="219075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86172" y="2466379"/>
            <a:ext cx="3744664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0F2FE"/>
                </a:solidFill>
                <a:latin typeface="Microsoft YaHei"/>
              </a:rPr>
              <a:t>명확한 시장 수요와 연평균 </a:t>
            </a:r>
            <a:r>
              <a:rPr sz="1080" b="0" i="0">
                <a:solidFill>
                  <a:srgbClr val="E0F2FE"/>
                </a:solidFill>
                <a:latin typeface="Inter"/>
              </a:rPr>
              <a:t>22.5% 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성장하는 농업용 로봇 시장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857500"/>
            <a:ext cx="4857750" cy="3714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2952750"/>
            <a:ext cx="219075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86172" y="2946350"/>
            <a:ext cx="3246983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0F2FE"/>
                </a:solidFill>
                <a:latin typeface="Microsoft YaHei"/>
              </a:rPr>
              <a:t>정부 정책 부합성과 예비창업패키지 지원 적합성 확보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3333750"/>
            <a:ext cx="4857750" cy="3714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2500" y="3429000"/>
            <a:ext cx="219075" cy="190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86172" y="3426321"/>
            <a:ext cx="3050827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0F2FE"/>
                </a:solidFill>
                <a:latin typeface="Microsoft YaHei"/>
              </a:rPr>
              <a:t>국내 시장 선점 후 동남아·유럽 글로벌 확장 가능성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238250"/>
            <a:ext cx="5334000" cy="2819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557170" y="1481583"/>
            <a:ext cx="1030188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4DA7FF"/>
                </a:solidFill>
                <a:latin typeface="Microsoft YaHei"/>
              </a:rPr>
              <a:t>사회적 가치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9125" y="1485900"/>
            <a:ext cx="238125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525" y="1895475"/>
            <a:ext cx="4857750" cy="3714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1775" y="2000250"/>
            <a:ext cx="228600" cy="1809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24972" y="1986408"/>
            <a:ext cx="3109912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0F2FE"/>
                </a:solidFill>
                <a:latin typeface="Microsoft YaHei"/>
              </a:rPr>
              <a:t>친환경 농업 실현으로 지속가능한 농업 생태계 구축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525" y="2371725"/>
            <a:ext cx="4857750" cy="3714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91300" y="2466975"/>
            <a:ext cx="228600" cy="190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34051" y="2466379"/>
            <a:ext cx="2835771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0F2FE"/>
                </a:solidFill>
                <a:latin typeface="Microsoft YaHei"/>
              </a:rPr>
              <a:t>농업 노동력 부족 해결과 농촌 지속가능성 향상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525" y="2857500"/>
            <a:ext cx="4857750" cy="3714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1300" y="2962275"/>
            <a:ext cx="228600" cy="1809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34051" y="2946350"/>
            <a:ext cx="2903487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0F2FE"/>
                </a:solidFill>
                <a:latin typeface="Microsoft YaHei"/>
              </a:rPr>
              <a:t>로봇공학·</a:t>
            </a:r>
            <a:r>
              <a:rPr sz="1080" b="0" i="0">
                <a:solidFill>
                  <a:srgbClr val="E0F2FE"/>
                </a:solidFill>
                <a:latin typeface="Inter"/>
              </a:rPr>
              <a:t>AI </a:t>
            </a:r>
            <a:r>
              <a:rPr sz="1080" b="0" i="0">
                <a:solidFill>
                  <a:srgbClr val="E0F2FE"/>
                </a:solidFill>
                <a:latin typeface="Microsoft YaHei"/>
              </a:rPr>
              <a:t>분야 고급 인력 양성 및 일자리 창출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6525" y="3333750"/>
            <a:ext cx="4857750" cy="3714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91300" y="3429000"/>
            <a:ext cx="219075" cy="1905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24972" y="3426321"/>
            <a:ext cx="2912864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E0F2FE"/>
                </a:solidFill>
                <a:latin typeface="Microsoft YaHei"/>
              </a:rPr>
              <a:t>국가 농업 기술 경쟁력 강화 및 수출 산업화 기여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4352925"/>
            <a:ext cx="10972800" cy="210502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624238" y="4687341"/>
            <a:ext cx="2943373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FFFFFF"/>
                </a:solidFill>
                <a:latin typeface="Microsoft YaHei"/>
              </a:rPr>
              <a:t>미래 농업을 선도하는 혁신 기술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28303" y="5154066"/>
            <a:ext cx="9419212" cy="20002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4DA7FF"/>
                </a:solidFill>
                <a:latin typeface="Microsoft YaHei"/>
              </a:rPr>
              <a:t>레이저 제초 로봇</a:t>
            </a:r>
            <a:r>
              <a:rPr sz="1320" b="0" i="0">
                <a:solidFill>
                  <a:srgbClr val="E0F2FE"/>
                </a:solidFill>
                <a:latin typeface="Microsoft YaHei"/>
              </a:rPr>
              <a:t>은 농업의 디지털 전환을 이끌며</a:t>
            </a:r>
            <a:r>
              <a:rPr sz="1320" b="0" i="0">
                <a:solidFill>
                  <a:srgbClr val="E0F2FE"/>
                </a:solidFill>
                <a:latin typeface="Inter"/>
              </a:rPr>
              <a:t>, </a:t>
            </a:r>
            <a:r>
              <a:rPr sz="1320" b="0" i="0">
                <a:solidFill>
                  <a:srgbClr val="E0F2FE"/>
                </a:solidFill>
                <a:latin typeface="Microsoft YaHei"/>
              </a:rPr>
              <a:t>친환경적이고 지속가능한 농업 생태계 구축에 핵심적인 역할을 할 것입니다</a:t>
            </a:r>
            <a:r>
              <a:rPr sz="1320" b="0" i="0">
                <a:solidFill>
                  <a:srgbClr val="E0F2FE"/>
                </a:solidFill>
                <a:latin typeface="Inter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51262" y="5564981"/>
            <a:ext cx="860673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0B981"/>
                </a:solidFill>
                <a:latin typeface="Arvo"/>
              </a:rPr>
              <a:t>341</a:t>
            </a:r>
            <a:r>
              <a:rPr sz="2160" b="1" i="0">
                <a:solidFill>
                  <a:srgbClr val="10B981"/>
                </a:solidFill>
                <a:latin typeface="Microsoft YaHei"/>
              </a:rPr>
              <a:t>억</a:t>
            </a:r>
            <a:r>
              <a:rPr sz="2160" b="1" i="0">
                <a:solidFill>
                  <a:srgbClr val="10B981"/>
                </a:solidFill>
                <a:latin typeface="Arvo"/>
              </a:rPr>
              <a:t>$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98862" y="5974556"/>
            <a:ext cx="116562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BD5E1"/>
                </a:solidFill>
                <a:latin typeface="Microsoft YaHei"/>
              </a:rPr>
              <a:t>글로벌 스마트팜 시장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6190" y="5545931"/>
            <a:ext cx="793551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0B981"/>
                </a:solidFill>
                <a:latin typeface="Arvo"/>
              </a:rPr>
              <a:t>22.5%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69284" y="5936456"/>
            <a:ext cx="12875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BD5E1"/>
                </a:solidFill>
                <a:latin typeface="Microsoft YaHei"/>
              </a:rPr>
              <a:t>농업로봇 연평균 성장률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98382" y="5564981"/>
            <a:ext cx="657820" cy="333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0B981"/>
                </a:solidFill>
                <a:latin typeface="Arvo"/>
              </a:rPr>
              <a:t>1</a:t>
            </a:r>
            <a:r>
              <a:rPr sz="2160" b="1" i="0">
                <a:solidFill>
                  <a:srgbClr val="10B981"/>
                </a:solidFill>
                <a:latin typeface="Microsoft YaHei"/>
              </a:rPr>
              <a:t>억원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61596" y="5974556"/>
            <a:ext cx="113139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CBD5E1"/>
                </a:solidFill>
                <a:latin typeface="Microsoft YaHei"/>
              </a:rPr>
              <a:t>예비창업패키지 지원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